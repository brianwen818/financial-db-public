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FinMind 未還原價</c:v>
                </c:pt>
              </c:strCache>
            </c:strRef>
          </c:tx>
          <c:spPr>
            <a:ln w="28575">
              <a:solidFill>
                <a:schemeClr val="accent5"/>
              </a:solidFill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1995</c:v>
                </c:pt>
                <c:pt idx="1">
                  <c:v>1996</c:v>
                </c:pt>
                <c:pt idx="2">
                  <c:v>1997</c:v>
                </c:pt>
                <c:pt idx="3">
                  <c:v>1998</c:v>
                </c:pt>
                <c:pt idx="4">
                  <c:v>1999</c:v>
                </c:pt>
                <c:pt idx="5">
                  <c:v>2000</c:v>
                </c:pt>
                <c:pt idx="6">
                  <c:v>2001</c:v>
                </c:pt>
                <c:pt idx="7">
                  <c:v>2002</c:v>
                </c:pt>
                <c:pt idx="8">
                  <c:v>2003</c:v>
                </c:pt>
                <c:pt idx="9">
                  <c:v>2004</c:v>
                </c:pt>
                <c:pt idx="10">
                  <c:v>2005</c:v>
                </c:pt>
                <c:pt idx="11">
                  <c:v>2006</c:v>
                </c:pt>
                <c:pt idx="12">
                  <c:v>2007</c:v>
                </c:pt>
                <c:pt idx="13">
                  <c:v>2008</c:v>
                </c:pt>
                <c:pt idx="14">
                  <c:v>2009</c:v>
                </c:pt>
                <c:pt idx="15">
                  <c:v>2010</c:v>
                </c:pt>
                <c:pt idx="16">
                  <c:v>2011</c:v>
                </c:pt>
                <c:pt idx="17">
                  <c:v>2012</c:v>
                </c:pt>
                <c:pt idx="18">
                  <c:v>2013</c:v>
                </c:pt>
                <c:pt idx="19">
                  <c:v>2014</c:v>
                </c:pt>
                <c:pt idx="20">
                  <c:v>2015</c:v>
                </c:pt>
                <c:pt idx="21">
                  <c:v>2016</c:v>
                </c:pt>
                <c:pt idx="22">
                  <c:v>2017</c:v>
                </c:pt>
                <c:pt idx="23">
                  <c:v>2018</c:v>
                </c:pt>
                <c:pt idx="24">
                  <c:v>2019</c:v>
                </c:pt>
                <c:pt idx="25">
                  <c:v>2020</c:v>
                </c:pt>
                <c:pt idx="26">
                  <c:v>2021</c:v>
                </c:pt>
                <c:pt idx="27">
                  <c:v>2022</c:v>
                </c:pt>
                <c:pt idx="28">
                  <c:v>2023</c:v>
                </c:pt>
                <c:pt idx="29">
                  <c:v>2024</c:v>
                </c:pt>
                <c:pt idx="30">
                  <c:v>2025</c:v>
                </c:pt>
              </c:strCache>
            </c: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60.6</c:v>
                </c:pt>
                <c:pt idx="1">
                  <c:v>71.4</c:v>
                </c:pt>
                <c:pt idx="2">
                  <c:v>81.1</c:v>
                </c:pt>
                <c:pt idx="3">
                  <c:v>86.3</c:v>
                </c:pt>
                <c:pt idx="4">
                  <c:v>98.8</c:v>
                </c:pt>
                <c:pt idx="5">
                  <c:v>116.7</c:v>
                </c:pt>
                <c:pt idx="6">
                  <c:v>130.4</c:v>
                </c:pt>
                <c:pt idx="7">
                  <c:v>164.4</c:v>
                </c:pt>
                <c:pt idx="8">
                  <c:v>210.5</c:v>
                </c:pt>
                <c:pt idx="9">
                  <c:v>270.3</c:v>
                </c:pt>
                <c:pt idx="10">
                  <c:v>296.6</c:v>
                </c:pt>
                <c:pt idx="11">
                  <c:v>305.9</c:v>
                </c:pt>
                <c:pt idx="12">
                  <c:v>331.7</c:v>
                </c:pt>
                <c:pt idx="13">
                  <c:v>382.2</c:v>
                </c:pt>
                <c:pt idx="14">
                  <c:v>384.3</c:v>
                </c:pt>
                <c:pt idx="15">
                  <c:v>404.7</c:v>
                </c:pt>
                <c:pt idx="16">
                  <c:v>424.8</c:v>
                </c:pt>
                <c:pt idx="17">
                  <c:v>444.6</c:v>
                </c:pt>
                <c:pt idx="18">
                  <c:v>449.2</c:v>
                </c:pt>
                <c:pt idx="19">
                  <c:v>464.0</c:v>
                </c:pt>
                <c:pt idx="20">
                  <c:v>471.8</c:v>
                </c:pt>
                <c:pt idx="21">
                  <c:v>484.5</c:v>
                </c:pt>
                <c:pt idx="22">
                  <c:v>504.7</c:v>
                </c:pt>
                <c:pt idx="23">
                  <c:v>524.2</c:v>
                </c:pt>
                <c:pt idx="24">
                  <c:v>536.4</c:v>
                </c:pt>
                <c:pt idx="25">
                  <c:v>563.9</c:v>
                </c:pt>
                <c:pt idx="26">
                  <c:v>569.1</c:v>
                </c:pt>
                <c:pt idx="27">
                  <c:v>588.4</c:v>
                </c:pt>
                <c:pt idx="28">
                  <c:v>583.9</c:v>
                </c:pt>
                <c:pt idx="29">
                  <c:v>616.4</c:v>
                </c:pt>
                <c:pt idx="30">
                  <c:v>643.3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FinMind 還原價</c:v>
                </c:pt>
              </c:strCache>
            </c:strRef>
          </c:tx>
          <c:spPr>
            <a:ln w="28575">
              <a:solidFill>
                <a:schemeClr val="accent2"/>
              </a:solidFill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1995</c:v>
                </c:pt>
                <c:pt idx="1">
                  <c:v>1996</c:v>
                </c:pt>
                <c:pt idx="2">
                  <c:v>1997</c:v>
                </c:pt>
                <c:pt idx="3">
                  <c:v>1998</c:v>
                </c:pt>
                <c:pt idx="4">
                  <c:v>1999</c:v>
                </c:pt>
                <c:pt idx="5">
                  <c:v>2000</c:v>
                </c:pt>
                <c:pt idx="6">
                  <c:v>2001</c:v>
                </c:pt>
                <c:pt idx="7">
                  <c:v>2002</c:v>
                </c:pt>
                <c:pt idx="8">
                  <c:v>2003</c:v>
                </c:pt>
                <c:pt idx="9">
                  <c:v>2004</c:v>
                </c:pt>
                <c:pt idx="10">
                  <c:v>2005</c:v>
                </c:pt>
                <c:pt idx="11">
                  <c:v>2006</c:v>
                </c:pt>
                <c:pt idx="12">
                  <c:v>2007</c:v>
                </c:pt>
                <c:pt idx="13">
                  <c:v>2008</c:v>
                </c:pt>
                <c:pt idx="14">
                  <c:v>2009</c:v>
                </c:pt>
                <c:pt idx="15">
                  <c:v>2010</c:v>
                </c:pt>
                <c:pt idx="16">
                  <c:v>2011</c:v>
                </c:pt>
                <c:pt idx="17">
                  <c:v>2012</c:v>
                </c:pt>
                <c:pt idx="18">
                  <c:v>2013</c:v>
                </c:pt>
                <c:pt idx="19">
                  <c:v>2014</c:v>
                </c:pt>
                <c:pt idx="20">
                  <c:v>2015</c:v>
                </c:pt>
                <c:pt idx="21">
                  <c:v>2016</c:v>
                </c:pt>
                <c:pt idx="22">
                  <c:v>2017</c:v>
                </c:pt>
                <c:pt idx="23">
                  <c:v>2018</c:v>
                </c:pt>
                <c:pt idx="24">
                  <c:v>2019</c:v>
                </c:pt>
                <c:pt idx="25">
                  <c:v>2020</c:v>
                </c:pt>
                <c:pt idx="26">
                  <c:v>2021</c:v>
                </c:pt>
                <c:pt idx="27">
                  <c:v>2022</c:v>
                </c:pt>
                <c:pt idx="28">
                  <c:v>2023</c:v>
                </c:pt>
                <c:pt idx="29">
                  <c:v>2024</c:v>
                </c:pt>
                <c:pt idx="30">
                  <c:v>2025</c:v>
                </c:pt>
              </c:strCache>
            </c:strRef>
          </c:cat>
          <c:val>
            <c:numRef>
              <c:f>Sheet1!$C$2:$C$32</c:f>
              <c:numCache>
                <c:formatCode>General</c:formatCode>
                <c:ptCount val="31"/>
                <c:pt idx="0">
                  <c:v>60.6</c:v>
                </c:pt>
                <c:pt idx="1">
                  <c:v>71.4</c:v>
                </c:pt>
                <c:pt idx="2">
                  <c:v>81.1</c:v>
                </c:pt>
                <c:pt idx="3">
                  <c:v>86.2</c:v>
                </c:pt>
                <c:pt idx="4">
                  <c:v>98.8</c:v>
                </c:pt>
                <c:pt idx="5">
                  <c:v>116.6</c:v>
                </c:pt>
                <c:pt idx="6">
                  <c:v>130.3</c:v>
                </c:pt>
                <c:pt idx="7">
                  <c:v>164.2</c:v>
                </c:pt>
                <c:pt idx="8">
                  <c:v>201.9</c:v>
                </c:pt>
                <c:pt idx="9">
                  <c:v>251.9</c:v>
                </c:pt>
                <c:pt idx="10">
                  <c:v>274.6</c:v>
                </c:pt>
                <c:pt idx="11">
                  <c:v>288.0</c:v>
                </c:pt>
                <c:pt idx="12">
                  <c:v>296.8</c:v>
                </c:pt>
                <c:pt idx="13">
                  <c:v>343.7</c:v>
                </c:pt>
                <c:pt idx="14">
                  <c:v>351.6</c:v>
                </c:pt>
                <c:pt idx="15">
                  <c:v>369.9</c:v>
                </c:pt>
                <c:pt idx="16">
                  <c:v>385.0</c:v>
                </c:pt>
                <c:pt idx="17">
                  <c:v>405.2</c:v>
                </c:pt>
                <c:pt idx="18">
                  <c:v>413.1</c:v>
                </c:pt>
                <c:pt idx="19">
                  <c:v>430.5</c:v>
                </c:pt>
                <c:pt idx="20">
                  <c:v>438.9</c:v>
                </c:pt>
                <c:pt idx="21">
                  <c:v>455.4</c:v>
                </c:pt>
                <c:pt idx="22">
                  <c:v>481.0</c:v>
                </c:pt>
                <c:pt idx="23">
                  <c:v>505.3</c:v>
                </c:pt>
                <c:pt idx="24">
                  <c:v>522.8</c:v>
                </c:pt>
                <c:pt idx="25">
                  <c:v>554.5</c:v>
                </c:pt>
                <c:pt idx="26">
                  <c:v>561.9</c:v>
                </c:pt>
                <c:pt idx="27">
                  <c:v>583.8</c:v>
                </c:pt>
                <c:pt idx="28">
                  <c:v>582.7</c:v>
                </c:pt>
                <c:pt idx="29">
                  <c:v>616.3</c:v>
                </c:pt>
                <c:pt idx="30">
                  <c:v>643.3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TEJ 還原價</c:v>
                </c:pt>
              </c:strCache>
            </c:strRef>
          </c:tx>
          <c:spPr>
            <a:ln w="28575">
              <a:solidFill>
                <a:schemeClr val="accent1"/>
              </a:solidFill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1995</c:v>
                </c:pt>
                <c:pt idx="1">
                  <c:v>1996</c:v>
                </c:pt>
                <c:pt idx="2">
                  <c:v>1997</c:v>
                </c:pt>
                <c:pt idx="3">
                  <c:v>1998</c:v>
                </c:pt>
                <c:pt idx="4">
                  <c:v>1999</c:v>
                </c:pt>
                <c:pt idx="5">
                  <c:v>2000</c:v>
                </c:pt>
                <c:pt idx="6">
                  <c:v>2001</c:v>
                </c:pt>
                <c:pt idx="7">
                  <c:v>2002</c:v>
                </c:pt>
                <c:pt idx="8">
                  <c:v>2003</c:v>
                </c:pt>
                <c:pt idx="9">
                  <c:v>2004</c:v>
                </c:pt>
                <c:pt idx="10">
                  <c:v>2005</c:v>
                </c:pt>
                <c:pt idx="11">
                  <c:v>2006</c:v>
                </c:pt>
                <c:pt idx="12">
                  <c:v>2007</c:v>
                </c:pt>
                <c:pt idx="13">
                  <c:v>2008</c:v>
                </c:pt>
                <c:pt idx="14">
                  <c:v>2009</c:v>
                </c:pt>
                <c:pt idx="15">
                  <c:v>2010</c:v>
                </c:pt>
                <c:pt idx="16">
                  <c:v>2011</c:v>
                </c:pt>
                <c:pt idx="17">
                  <c:v>2012</c:v>
                </c:pt>
                <c:pt idx="18">
                  <c:v>2013</c:v>
                </c:pt>
                <c:pt idx="19">
                  <c:v>2014</c:v>
                </c:pt>
                <c:pt idx="20">
                  <c:v>2015</c:v>
                </c:pt>
                <c:pt idx="21">
                  <c:v>2016</c:v>
                </c:pt>
                <c:pt idx="22">
                  <c:v>2017</c:v>
                </c:pt>
                <c:pt idx="23">
                  <c:v>2018</c:v>
                </c:pt>
                <c:pt idx="24">
                  <c:v>2019</c:v>
                </c:pt>
                <c:pt idx="25">
                  <c:v>2020</c:v>
                </c:pt>
                <c:pt idx="26">
                  <c:v>2021</c:v>
                </c:pt>
                <c:pt idx="27">
                  <c:v>2022</c:v>
                </c:pt>
                <c:pt idx="28">
                  <c:v>2023</c:v>
                </c:pt>
                <c:pt idx="29">
                  <c:v>2024</c:v>
                </c:pt>
                <c:pt idx="30">
                  <c:v>2025</c:v>
                </c:pt>
              </c:strCache>
            </c:strRef>
          </c:cat>
          <c:val>
            <c:numRef>
              <c:f>Sheet1!$D$2:$D$32</c:f>
              <c:numCache>
                <c:formatCode>General</c:formatCode>
                <c:ptCount val="31"/>
                <c:pt idx="5">
                  <c:v>72.8</c:v>
                </c:pt>
                <c:pt idx="6">
                  <c:v>214.4</c:v>
                </c:pt>
                <c:pt idx="7">
                  <c:v>262.9</c:v>
                </c:pt>
                <c:pt idx="8">
                  <c:v>301.4</c:v>
                </c:pt>
                <c:pt idx="9">
                  <c:v>324.9</c:v>
                </c:pt>
                <c:pt idx="10">
                  <c:v>329.8</c:v>
                </c:pt>
                <c:pt idx="11">
                  <c:v>330.8</c:v>
                </c:pt>
                <c:pt idx="12">
                  <c:v>335.1</c:v>
                </c:pt>
                <c:pt idx="13">
                  <c:v>343.7</c:v>
                </c:pt>
                <c:pt idx="14">
                  <c:v>348.7</c:v>
                </c:pt>
                <c:pt idx="15">
                  <c:v>364.7</c:v>
                </c:pt>
                <c:pt idx="16">
                  <c:v>377.6</c:v>
                </c:pt>
                <c:pt idx="17">
                  <c:v>395.4</c:v>
                </c:pt>
                <c:pt idx="18">
                  <c:v>398.3</c:v>
                </c:pt>
                <c:pt idx="19">
                  <c:v>410.9</c:v>
                </c:pt>
                <c:pt idx="20">
                  <c:v>417.3</c:v>
                </c:pt>
                <c:pt idx="21">
                  <c:v>425.4</c:v>
                </c:pt>
                <c:pt idx="22">
                  <c:v>435.7</c:v>
                </c:pt>
                <c:pt idx="23">
                  <c:v>442.8</c:v>
                </c:pt>
                <c:pt idx="24">
                  <c:v>437.3</c:v>
                </c:pt>
                <c:pt idx="25">
                  <c:v>447.1</c:v>
                </c:pt>
                <c:pt idx="26">
                  <c:v>451.4</c:v>
                </c:pt>
                <c:pt idx="27">
                  <c:v>461.2</c:v>
                </c:pt>
                <c:pt idx="28">
                  <c:v>455.5</c:v>
                </c:pt>
                <c:pt idx="29">
                  <c:v>472.1</c:v>
                </c:pt>
                <c:pt idx="30">
                  <c:v>483.5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chemeClr val="accent5"/>
            </a:solidFill>
          </a:ln>
        </c:spPr>
        <c:txPr>
          <a:bodyPr/>
          <a:lstStyle/>
          <a:p>
            <a:pPr>
              <a:defRPr sz="1100">
                <a:solidFill>
                  <a:schemeClr val="accent4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tickLblSkip val="5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chemeClr val="accent6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chemeClr val="accent4"/>
                </a:solidFill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100">
              <a:solidFill>
                <a:schemeClr val="accent4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FinMind 未還原價</c:v>
                </c:pt>
              </c:strCache>
            </c:strRef>
          </c:tx>
          <c:spPr>
            <a:ln w="28575">
              <a:solidFill>
                <a:schemeClr val="accent5"/>
              </a:solidFill>
            </a:ln>
          </c:spPr>
          <c:marker>
            <c:symbol val="none"/>
          </c:marker>
          <c:cat>
            <c:strRef>
              <c:f>Sheet1!$A$2:$A$28</c:f>
              <c:strCache>
                <c:ptCount val="27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2026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58.56</c:v>
                </c:pt>
                <c:pt idx="1">
                  <c:v>60.51</c:v>
                </c:pt>
                <c:pt idx="2">
                  <c:v>67.66</c:v>
                </c:pt>
                <c:pt idx="3">
                  <c:v>79.52</c:v>
                </c:pt>
                <c:pt idx="4">
                  <c:v>95.02</c:v>
                </c:pt>
                <c:pt idx="5">
                  <c:v>99.2</c:v>
                </c:pt>
                <c:pt idx="6">
                  <c:v>99.09</c:v>
                </c:pt>
                <c:pt idx="7">
                  <c:v>87.5</c:v>
                </c:pt>
                <c:pt idx="8">
                  <c:v>99.2</c:v>
                </c:pt>
                <c:pt idx="9">
                  <c:v>99.37</c:v>
                </c:pt>
                <c:pt idx="10">
                  <c:v>99.33</c:v>
                </c:pt>
                <c:pt idx="11">
                  <c:v>99.41</c:v>
                </c:pt>
                <c:pt idx="12">
                  <c:v>99.55</c:v>
                </c:pt>
                <c:pt idx="13">
                  <c:v>99.8</c:v>
                </c:pt>
                <c:pt idx="14">
                  <c:v>99.78</c:v>
                </c:pt>
                <c:pt idx="15">
                  <c:v>99.74</c:v>
                </c:pt>
                <c:pt idx="16">
                  <c:v>99.82</c:v>
                </c:pt>
                <c:pt idx="17">
                  <c:v>99.87</c:v>
                </c:pt>
                <c:pt idx="18">
                  <c:v>99.87</c:v>
                </c:pt>
                <c:pt idx="19">
                  <c:v>99.9</c:v>
                </c:pt>
                <c:pt idx="20">
                  <c:v>99.9</c:v>
                </c:pt>
                <c:pt idx="21">
                  <c:v>99.7</c:v>
                </c:pt>
                <c:pt idx="22">
                  <c:v>99.78</c:v>
                </c:pt>
                <c:pt idx="23">
                  <c:v>99.69</c:v>
                </c:pt>
                <c:pt idx="24">
                  <c:v>99.74</c:v>
                </c:pt>
                <c:pt idx="25">
                  <c:v>99.88</c:v>
                </c:pt>
                <c:pt idx="26">
                  <c:v>99.85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FinMind 還原價</c:v>
                </c:pt>
              </c:strCache>
            </c:strRef>
          </c:tx>
          <c:spPr>
            <a:ln w="28575">
              <a:solidFill>
                <a:schemeClr val="accent2"/>
              </a:solidFill>
            </a:ln>
          </c:spPr>
          <c:marker>
            <c:symbol val="none"/>
          </c:marker>
          <c:cat>
            <c:strRef>
              <c:f>Sheet1!$A$2:$A$28</c:f>
              <c:strCache>
                <c:ptCount val="27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2026</c:v>
                </c:pt>
              </c:strCache>
            </c:strRef>
          </c:cat>
          <c:val>
            <c:numRef>
              <c:f>Sheet1!$C$2:$C$28</c:f>
              <c:numCache>
                <c:formatCode>General</c:formatCode>
                <c:ptCount val="27"/>
                <c:pt idx="0">
                  <c:v>58.46</c:v>
                </c:pt>
                <c:pt idx="1">
                  <c:v>60.47</c:v>
                </c:pt>
                <c:pt idx="2">
                  <c:v>67.6</c:v>
                </c:pt>
                <c:pt idx="3">
                  <c:v>76.24</c:v>
                </c:pt>
                <c:pt idx="4">
                  <c:v>88.51</c:v>
                </c:pt>
                <c:pt idx="5">
                  <c:v>91.87</c:v>
                </c:pt>
                <c:pt idx="6">
                  <c:v>93.4</c:v>
                </c:pt>
                <c:pt idx="7">
                  <c:v>84.5</c:v>
                </c:pt>
                <c:pt idx="8">
                  <c:v>95.61</c:v>
                </c:pt>
                <c:pt idx="9">
                  <c:v>96.2</c:v>
                </c:pt>
                <c:pt idx="10">
                  <c:v>96.42</c:v>
                </c:pt>
                <c:pt idx="11">
                  <c:v>96.49</c:v>
                </c:pt>
                <c:pt idx="12">
                  <c:v>96.84</c:v>
                </c:pt>
                <c:pt idx="13">
                  <c:v>97.34</c:v>
                </c:pt>
                <c:pt idx="14">
                  <c:v>97.3</c:v>
                </c:pt>
                <c:pt idx="15">
                  <c:v>97.66</c:v>
                </c:pt>
                <c:pt idx="16">
                  <c:v>98.2</c:v>
                </c:pt>
                <c:pt idx="17">
                  <c:v>98.68</c:v>
                </c:pt>
                <c:pt idx="18">
                  <c:v>99.14</c:v>
                </c:pt>
                <c:pt idx="19">
                  <c:v>99.62</c:v>
                </c:pt>
                <c:pt idx="20">
                  <c:v>99.86</c:v>
                </c:pt>
                <c:pt idx="21">
                  <c:v>99.7</c:v>
                </c:pt>
                <c:pt idx="22">
                  <c:v>99.78</c:v>
                </c:pt>
                <c:pt idx="23">
                  <c:v>99.69</c:v>
                </c:pt>
                <c:pt idx="24">
                  <c:v>99.74</c:v>
                </c:pt>
                <c:pt idx="25">
                  <c:v>99.88</c:v>
                </c:pt>
                <c:pt idx="26">
                  <c:v>99.84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chemeClr val="accent5"/>
            </a:solidFill>
          </a:ln>
        </c:spPr>
        <c:txPr>
          <a:bodyPr/>
          <a:lstStyle/>
          <a:p>
            <a:pPr>
              <a:defRPr sz="1200">
                <a:solidFill>
                  <a:schemeClr val="accent4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tickLblSkip val="5"/>
        <c:noMultiLvlLbl val="0"/>
      </c:catAx>
      <c:valAx>
        <c:axId val="2140495176"/>
        <c:scaling>
          <c:max val="100.0"/>
          <c:min val="40.0"/>
        </c:scaling>
        <c:delete val="0"/>
        <c:axPos val="l"/>
        <c:majorGridlines>
          <c:spPr>
            <a:ln w="6350">
              <a:solidFill>
                <a:schemeClr val="accent6"/>
              </a:solidFill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chemeClr val="accent4"/>
                </a:solidFill>
              </a:defRPr>
            </a:pPr>
          </a:p>
        </c:txPr>
        <c:crossAx val="2118791784"/>
        <c:crosses val="autoZero"/>
        <c:majorUnit val="20.0"/>
      </c:valAx>
    </c:plotArea>
    <c:legend>
      <c:legendPos val="t"/>
      <c:layout/>
      <c:overlay val="0"/>
      <c:txPr>
        <a:bodyPr/>
        <a:lstStyle/>
        <a:p>
          <a:pPr>
            <a:defRPr sz="1200">
              <a:solidFill>
                <a:schemeClr val="accent4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交易日數</c:v>
                </c:pt>
              </c:strCache>
            </c:strRef>
          </c:tx>
          <c:spPr>
            <a:solidFill>
              <a:schemeClr val="tx2"/>
            </a:solidFill>
          </c:spPr>
          <c:invertIfNegative val="0"/>
          <c:dPt>
            <c:idx val="0"/>
            <c:spPr>
              <a:solidFill>
                <a:schemeClr val="accent2"/>
              </a:solidFill>
            </c:spPr>
          </c:dPt>
          <c:dPt>
            <c:idx val="1"/>
            <c:spPr>
              <a:solidFill>
                <a:schemeClr val="accent5"/>
              </a:solidFill>
            </c:spPr>
          </c:dPt>
          <c:dPt>
            <c:idx val="2"/>
            <c:spPr>
              <a:solidFill>
                <a:schemeClr val="accent2"/>
              </a:solidFill>
            </c:spPr>
          </c:dPt>
          <c:dPt>
            <c:idx val="3"/>
            <c:spPr>
              <a:solidFill>
                <a:schemeClr val="tx2"/>
              </a:solidFill>
            </c:spPr>
          </c:dPt>
          <c:dPt>
            <c:idx val="4"/>
            <c:spPr>
              <a:solidFill>
                <a:schemeClr val="accent5"/>
              </a:solidFill>
            </c:spPr>
          </c:dPt>
          <c:cat>
            <c:strRef>
              <c:f>Sheet1!$A$2:$A$6</c:f>
              <c:strCache>
                <c:ptCount val="5"/>
                <c:pt idx="0">
                  <c:v>FinMind 未還原除權息</c:v>
                </c:pt>
                <c:pt idx="1">
                  <c:v>無成交日的記法不同</c:v>
                </c:pt>
                <c:pt idx="2">
                  <c:v>FinMind 多調（未還原價無事件）</c:v>
                </c:pt>
                <c:pt idx="3">
                  <c:v>本專案管線：還原基準混用</c:v>
                </c:pt>
                <c:pt idx="4">
                  <c:v>兩邊都調、幅度不同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2806</c:v>
                </c:pt>
                <c:pt idx="1">
                  <c:v>7163</c:v>
                </c:pt>
                <c:pt idx="2">
                  <c:v>20</c:v>
                </c:pt>
                <c:pt idx="3">
                  <c:v>10</c:v>
                </c:pt>
                <c:pt idx="4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300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8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>
            <a:solidFill>
              <a:schemeClr val="accent5"/>
            </a:solidFill>
          </a:ln>
        </c:spPr>
        <c:txPr>
          <a:bodyPr/>
          <a:lstStyle/>
          <a:p>
            <a:pPr>
              <a:defRPr sz="1300">
                <a:solidFill>
                  <a:schemeClr val="accent4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chemeClr val="accent4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TEJ 還原價</c:v>
                </c:pt>
              </c:strCache>
            </c:strRef>
          </c:tx>
          <c:spPr>
            <a:ln w="28575">
              <a:solidFill>
                <a:schemeClr val="accent1"/>
              </a:solidFill>
            </a:ln>
          </c:spPr>
          <c:marker>
            <c:symbol val="none"/>
          </c:marker>
          <c:cat>
            <c:strRef>
              <c:f>Sheet1!$A$2:$A$28</c:f>
              <c:strCache>
                <c:ptCount val="27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2026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25.0</c:v>
                </c:pt>
                <c:pt idx="1">
                  <c:v>7.3</c:v>
                </c:pt>
                <c:pt idx="2">
                  <c:v>6.4</c:v>
                </c:pt>
                <c:pt idx="3">
                  <c:v>6.9</c:v>
                </c:pt>
                <c:pt idx="4">
                  <c:v>2.9</c:v>
                </c:pt>
                <c:pt idx="5">
                  <c:v>0.4</c:v>
                </c:pt>
                <c:pt idx="6">
                  <c:v>0.0</c:v>
                </c:pt>
                <c:pt idx="7">
                  <c:v>8.9</c:v>
                </c:pt>
                <c:pt idx="8">
                  <c:v>4.7</c:v>
                </c:pt>
                <c:pt idx="9">
                  <c:v>13.6</c:v>
                </c:pt>
                <c:pt idx="10">
                  <c:v>4.7</c:v>
                </c:pt>
                <c:pt idx="11">
                  <c:v>9.4</c:v>
                </c:pt>
                <c:pt idx="12">
                  <c:v>8.9</c:v>
                </c:pt>
                <c:pt idx="13">
                  <c:v>16.4</c:v>
                </c:pt>
                <c:pt idx="14">
                  <c:v>5.6</c:v>
                </c:pt>
                <c:pt idx="15">
                  <c:v>8.3</c:v>
                </c:pt>
                <c:pt idx="16">
                  <c:v>43.8</c:v>
                </c:pt>
                <c:pt idx="17">
                  <c:v>28.6</c:v>
                </c:pt>
                <c:pt idx="18">
                  <c:v>38.1</c:v>
                </c:pt>
                <c:pt idx="19">
                  <c:v>14.7</c:v>
                </c:pt>
                <c:pt idx="20">
                  <c:v>21.6</c:v>
                </c:pt>
                <c:pt idx="21">
                  <c:v>10.4</c:v>
                </c:pt>
                <c:pt idx="22">
                  <c:v>7.5</c:v>
                </c:pt>
                <c:pt idx="23">
                  <c:v>22.0</c:v>
                </c:pt>
                <c:pt idx="24">
                  <c:v>24.1</c:v>
                </c:pt>
                <c:pt idx="25">
                  <c:v>32.8</c:v>
                </c:pt>
                <c:pt idx="26">
                  <c:v>24.2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FinMind 還原價</c:v>
                </c:pt>
              </c:strCache>
            </c:strRef>
          </c:tx>
          <c:spPr>
            <a:ln w="28575">
              <a:solidFill>
                <a:schemeClr val="accent2"/>
              </a:solidFill>
              <a:prstDash val="dash"/>
            </a:ln>
          </c:spPr>
          <c:marker>
            <c:symbol val="none"/>
          </c:marker>
          <c:cat>
            <c:strRef>
              <c:f>Sheet1!$A$2:$A$28</c:f>
              <c:strCache>
                <c:ptCount val="27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2026</c:v>
                </c:pt>
              </c:strCache>
            </c:strRef>
          </c:cat>
          <c:val>
            <c:numRef>
              <c:f>Sheet1!$C$2:$C$28</c:f>
              <c:numCache>
                <c:formatCode>General</c:formatCode>
                <c:ptCount val="27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9.2</c:v>
                </c:pt>
                <c:pt idx="4">
                  <c:v>4.5</c:v>
                </c:pt>
                <c:pt idx="5">
                  <c:v>0.4</c:v>
                </c:pt>
                <c:pt idx="6">
                  <c:v>0.0</c:v>
                </c:pt>
                <c:pt idx="7">
                  <c:v>8.9</c:v>
                </c:pt>
                <c:pt idx="8">
                  <c:v>4.7</c:v>
                </c:pt>
                <c:pt idx="9">
                  <c:v>13.6</c:v>
                </c:pt>
                <c:pt idx="10">
                  <c:v>4.7</c:v>
                </c:pt>
                <c:pt idx="11">
                  <c:v>9.4</c:v>
                </c:pt>
                <c:pt idx="12">
                  <c:v>8.9</c:v>
                </c:pt>
                <c:pt idx="13">
                  <c:v>16.4</c:v>
                </c:pt>
                <c:pt idx="14">
                  <c:v>5.6</c:v>
                </c:pt>
                <c:pt idx="15">
                  <c:v>8.3</c:v>
                </c:pt>
                <c:pt idx="16">
                  <c:v>43.8</c:v>
                </c:pt>
                <c:pt idx="17">
                  <c:v>28.6</c:v>
                </c:pt>
                <c:pt idx="18">
                  <c:v>38.1</c:v>
                </c:pt>
                <c:pt idx="19">
                  <c:v>14.7</c:v>
                </c:pt>
                <c:pt idx="20">
                  <c:v>21.6</c:v>
                </c:pt>
                <c:pt idx="21">
                  <c:v>10.4</c:v>
                </c:pt>
                <c:pt idx="22">
                  <c:v>7.5</c:v>
                </c:pt>
                <c:pt idx="23">
                  <c:v>22.0</c:v>
                </c:pt>
                <c:pt idx="24">
                  <c:v>24.1</c:v>
                </c:pt>
                <c:pt idx="25">
                  <c:v>32.8</c:v>
                </c:pt>
                <c:pt idx="26">
                  <c:v>24.2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chemeClr val="accent5"/>
            </a:solidFill>
          </a:ln>
        </c:spPr>
        <c:txPr>
          <a:bodyPr/>
          <a:lstStyle/>
          <a:p>
            <a:pPr>
              <a:defRPr sz="1100">
                <a:solidFill>
                  <a:schemeClr val="accent4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tickLblSkip val="5"/>
        <c:noMultiLvlLbl val="0"/>
      </c:catAx>
      <c:valAx>
        <c:axId val="2140495176"/>
        <c:scaling>
          <c:max val="100.0"/>
          <c:min val="0.0"/>
        </c:scaling>
        <c:delete val="0"/>
        <c:axPos val="l"/>
        <c:majorGridlines>
          <c:spPr>
            <a:ln w="6350">
              <a:solidFill>
                <a:schemeClr val="accent6"/>
              </a:solidFill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chemeClr val="accent4"/>
                </a:solidFill>
              </a:defRPr>
            </a:pPr>
          </a:p>
        </c:txPr>
        <c:crossAx val="2118791784"/>
        <c:crosses val="autoZero"/>
        <c:majorUnit val="25.0"/>
      </c:valAx>
    </c:plotArea>
    <c:legend>
      <c:legendPos val="t"/>
      <c:layout/>
      <c:overlay val="0"/>
      <c:txPr>
        <a:bodyPr/>
        <a:lstStyle/>
        <a:p>
          <a:pPr>
            <a:defRPr sz="1100">
              <a:solidFill>
                <a:schemeClr val="accent4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TEJ 還原價</c:v>
                </c:pt>
              </c:strCache>
            </c:strRef>
          </c:tx>
          <c:spPr>
            <a:ln w="28575">
              <a:solidFill>
                <a:schemeClr val="accent1"/>
              </a:solidFill>
            </a:ln>
          </c:spPr>
          <c:marker>
            <c:symbol val="none"/>
          </c:marker>
          <c:cat>
            <c:strRef>
              <c:f>Sheet1!$A$2:$A$28</c:f>
              <c:strCache>
                <c:ptCount val="27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2026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12.5</c:v>
                </c:pt>
                <c:pt idx="1">
                  <c:v>8.1</c:v>
                </c:pt>
                <c:pt idx="2">
                  <c:v>1.4</c:v>
                </c:pt>
                <c:pt idx="3">
                  <c:v>0.9</c:v>
                </c:pt>
                <c:pt idx="4">
                  <c:v>0.5</c:v>
                </c:pt>
                <c:pt idx="5">
                  <c:v>1.1</c:v>
                </c:pt>
                <c:pt idx="6">
                  <c:v>0.0</c:v>
                </c:pt>
                <c:pt idx="7">
                  <c:v>24.4</c:v>
                </c:pt>
                <c:pt idx="8">
                  <c:v>9.6</c:v>
                </c:pt>
                <c:pt idx="9">
                  <c:v>24.8</c:v>
                </c:pt>
                <c:pt idx="10">
                  <c:v>24.8</c:v>
                </c:pt>
                <c:pt idx="11">
                  <c:v>23.4</c:v>
                </c:pt>
                <c:pt idx="12">
                  <c:v>21.7</c:v>
                </c:pt>
                <c:pt idx="13">
                  <c:v>18.7</c:v>
                </c:pt>
                <c:pt idx="14">
                  <c:v>26.3</c:v>
                </c:pt>
                <c:pt idx="15">
                  <c:v>28.9</c:v>
                </c:pt>
                <c:pt idx="16">
                  <c:v>54.7</c:v>
                </c:pt>
                <c:pt idx="17">
                  <c:v>35.7</c:v>
                </c:pt>
                <c:pt idx="18">
                  <c:v>29.2</c:v>
                </c:pt>
                <c:pt idx="19">
                  <c:v>22.0</c:v>
                </c:pt>
                <c:pt idx="20">
                  <c:v>31.7</c:v>
                </c:pt>
                <c:pt idx="21">
                  <c:v>22.0</c:v>
                </c:pt>
                <c:pt idx="22">
                  <c:v>19.2</c:v>
                </c:pt>
                <c:pt idx="23">
                  <c:v>8.9</c:v>
                </c:pt>
                <c:pt idx="24">
                  <c:v>47.1</c:v>
                </c:pt>
                <c:pt idx="25">
                  <c:v>44.3</c:v>
                </c:pt>
                <c:pt idx="26">
                  <c:v>28.6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FinMind 還原價</c:v>
                </c:pt>
              </c:strCache>
            </c:strRef>
          </c:tx>
          <c:spPr>
            <a:ln w="28575">
              <a:solidFill>
                <a:schemeClr val="accent2"/>
              </a:solidFill>
              <a:prstDash val="dash"/>
            </a:ln>
          </c:spPr>
          <c:marker>
            <c:symbol val="none"/>
          </c:marker>
          <c:cat>
            <c:strRef>
              <c:f>Sheet1!$A$2:$A$28</c:f>
              <c:strCache>
                <c:ptCount val="27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2026</c:v>
                </c:pt>
              </c:strCache>
            </c:strRef>
          </c:cat>
          <c:val>
            <c:numRef>
              <c:f>Sheet1!$C$2:$C$28</c:f>
              <c:numCache>
                <c:formatCode>General</c:formatCode>
                <c:ptCount val="27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  <c:pt idx="4">
                  <c:v>100.0</c:v>
                </c:pt>
                <c:pt idx="5">
                  <c:v>100.0</c:v>
                </c:pt>
                <c:pt idx="6">
                  <c:v>100.0</c:v>
                </c:pt>
                <c:pt idx="7">
                  <c:v>99.5</c:v>
                </c:pt>
                <c:pt idx="8">
                  <c:v>9.6</c:v>
                </c:pt>
                <c:pt idx="9">
                  <c:v>24.8</c:v>
                </c:pt>
                <c:pt idx="10">
                  <c:v>24.8</c:v>
                </c:pt>
                <c:pt idx="11">
                  <c:v>23.4</c:v>
                </c:pt>
                <c:pt idx="12">
                  <c:v>21.7</c:v>
                </c:pt>
                <c:pt idx="13">
                  <c:v>18.7</c:v>
                </c:pt>
                <c:pt idx="14">
                  <c:v>26.3</c:v>
                </c:pt>
                <c:pt idx="15">
                  <c:v>28.9</c:v>
                </c:pt>
                <c:pt idx="16">
                  <c:v>54.7</c:v>
                </c:pt>
                <c:pt idx="17">
                  <c:v>35.7</c:v>
                </c:pt>
                <c:pt idx="18">
                  <c:v>29.2</c:v>
                </c:pt>
                <c:pt idx="19">
                  <c:v>22.0</c:v>
                </c:pt>
                <c:pt idx="20">
                  <c:v>31.7</c:v>
                </c:pt>
                <c:pt idx="21">
                  <c:v>22.0</c:v>
                </c:pt>
                <c:pt idx="22">
                  <c:v>19.2</c:v>
                </c:pt>
                <c:pt idx="23">
                  <c:v>8.9</c:v>
                </c:pt>
                <c:pt idx="24">
                  <c:v>47.1</c:v>
                </c:pt>
                <c:pt idx="25">
                  <c:v>44.3</c:v>
                </c:pt>
                <c:pt idx="26">
                  <c:v>28.6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chemeClr val="accent5"/>
            </a:solidFill>
          </a:ln>
        </c:spPr>
        <c:txPr>
          <a:bodyPr/>
          <a:lstStyle/>
          <a:p>
            <a:pPr>
              <a:defRPr sz="1100">
                <a:solidFill>
                  <a:schemeClr val="accent4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tickLblSkip val="5"/>
        <c:noMultiLvlLbl val="0"/>
      </c:catAx>
      <c:valAx>
        <c:axId val="2140495176"/>
        <c:scaling>
          <c:max val="100.0"/>
          <c:min val="0.0"/>
        </c:scaling>
        <c:delete val="0"/>
        <c:axPos val="l"/>
        <c:majorGridlines>
          <c:spPr>
            <a:ln w="6350">
              <a:solidFill>
                <a:schemeClr val="accent6"/>
              </a:solidFill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chemeClr val="accent4"/>
                </a:solidFill>
              </a:defRPr>
            </a:pPr>
          </a:p>
        </c:txPr>
        <c:crossAx val="2118791784"/>
        <c:crosses val="autoZero"/>
        <c:majorUnit val="25.0"/>
      </c:valAx>
    </c:plotArea>
    <c:legend>
      <c:legendPos val="t"/>
      <c:layout/>
      <c:overlay val="0"/>
      <c:txPr>
        <a:bodyPr/>
        <a:lstStyle/>
        <a:p>
          <a:pPr>
            <a:defRPr sz="1100">
              <a:solidFill>
                <a:schemeClr val="accent4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未還原價</c:v>
                </c:pt>
              </c:strCache>
            </c:strRef>
          </c:tx>
          <c:spPr>
            <a:ln w="28575">
              <a:solidFill>
                <a:schemeClr val="accent5"/>
              </a:solidFill>
            </a:ln>
          </c:spPr>
          <c:marker>
            <c:symbol val="circle"/>
            <c:size val="6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</c:spPr>
          </c:marker>
          <c:cat>
            <c:strRef>
              <c:f>Sheet1!$A$2:$A$29</c:f>
              <c:strCache>
                <c:ptCount val="28"/>
                <c:pt idx="0">
                  <c:v>08-10</c:v>
                </c:pt>
                <c:pt idx="1">
                  <c:v>08-11</c:v>
                </c:pt>
                <c:pt idx="2">
                  <c:v>08-12</c:v>
                </c:pt>
                <c:pt idx="3">
                  <c:v>08-13</c:v>
                </c:pt>
                <c:pt idx="4">
                  <c:v>08-14</c:v>
                </c:pt>
                <c:pt idx="5">
                  <c:v>08-17</c:v>
                </c:pt>
                <c:pt idx="6">
                  <c:v>08-18</c:v>
                </c:pt>
                <c:pt idx="7">
                  <c:v>08-19</c:v>
                </c:pt>
                <c:pt idx="8">
                  <c:v>08-20</c:v>
                </c:pt>
                <c:pt idx="9">
                  <c:v>08-21</c:v>
                </c:pt>
                <c:pt idx="10">
                  <c:v>08-24</c:v>
                </c:pt>
                <c:pt idx="11">
                  <c:v>08-25</c:v>
                </c:pt>
                <c:pt idx="12">
                  <c:v>08-26</c:v>
                </c:pt>
                <c:pt idx="13">
                  <c:v>08-27</c:v>
                </c:pt>
                <c:pt idx="14">
                  <c:v>08-28</c:v>
                </c:pt>
                <c:pt idx="15">
                  <c:v>08-31</c:v>
                </c:pt>
                <c:pt idx="16">
                  <c:v>09-01</c:v>
                </c:pt>
                <c:pt idx="17">
                  <c:v>09-02</c:v>
                </c:pt>
                <c:pt idx="18">
                  <c:v>09-03</c:v>
                </c:pt>
                <c:pt idx="19">
                  <c:v>09-04</c:v>
                </c:pt>
                <c:pt idx="20">
                  <c:v>09-07</c:v>
                </c:pt>
                <c:pt idx="21">
                  <c:v>09-08</c:v>
                </c:pt>
                <c:pt idx="22">
                  <c:v>09-09</c:v>
                </c:pt>
                <c:pt idx="23">
                  <c:v>09-10</c:v>
                </c:pt>
                <c:pt idx="24">
                  <c:v>09-11</c:v>
                </c:pt>
                <c:pt idx="25">
                  <c:v>09-14</c:v>
                </c:pt>
                <c:pt idx="26">
                  <c:v>09-15</c:v>
                </c:pt>
                <c:pt idx="27">
                  <c:v>09-16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6010.0</c:v>
                </c:pt>
                <c:pt idx="1">
                  <c:v>5930.0</c:v>
                </c:pt>
                <c:pt idx="2">
                  <c:v>6025.0</c:v>
                </c:pt>
                <c:pt idx="3">
                  <c:v>6070.0</c:v>
                </c:pt>
                <c:pt idx="4">
                  <c:v>6435.0</c:v>
                </c:pt>
                <c:pt idx="5">
                  <c:v>6620.0</c:v>
                </c:pt>
                <c:pt idx="6">
                  <c:v>6400.0</c:v>
                </c:pt>
                <c:pt idx="7">
                  <c:v>6375.0</c:v>
                </c:pt>
                <c:pt idx="8">
                  <c:v>6325.0</c:v>
                </c:pt>
                <c:pt idx="9">
                  <c:v>6255.0</c:v>
                </c:pt>
                <c:pt idx="10">
                  <c:v>6300.0</c:v>
                </c:pt>
                <c:pt idx="11">
                  <c:v>6440.0</c:v>
                </c:pt>
                <c:pt idx="12">
                  <c:v>6785.0</c:v>
                </c:pt>
                <c:pt idx="13">
                  <c:v>6815.0</c:v>
                </c:pt>
                <c:pt idx="14">
                  <c:v>7200.0</c:v>
                </c:pt>
                <c:pt idx="15">
                  <c:v>7095.0</c:v>
                </c:pt>
                <c:pt idx="16">
                  <c:v>7800.0</c:v>
                </c:pt>
                <c:pt idx="17">
                  <c:v>2610.0</c:v>
                </c:pt>
                <c:pt idx="18">
                  <c:v>2475.0</c:v>
                </c:pt>
                <c:pt idx="19">
                  <c:v>2565.0</c:v>
                </c:pt>
                <c:pt idx="20">
                  <c:v>2490.0</c:v>
                </c:pt>
                <c:pt idx="21">
                  <c:v>2340.0</c:v>
                </c:pt>
                <c:pt idx="22">
                  <c:v>2325.0</c:v>
                </c:pt>
                <c:pt idx="23">
                  <c:v>2345.0</c:v>
                </c:pt>
                <c:pt idx="24">
                  <c:v>2310.0</c:v>
                </c:pt>
                <c:pt idx="25">
                  <c:v>2270.0</c:v>
                </c:pt>
                <c:pt idx="26">
                  <c:v>2315.0</c:v>
                </c:pt>
                <c:pt idx="27">
                  <c:v>2165.0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FinMind 還原價（修正前的 processed 層）</c:v>
                </c:pt>
              </c:strCache>
            </c:strRef>
          </c:tx>
          <c:spPr>
            <a:ln w="28575">
              <a:solidFill>
                <a:schemeClr val="accent2"/>
              </a:solidFill>
            </a:ln>
          </c:spPr>
          <c:marker>
            <c:symbol val="circle"/>
            <c:size val="6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</c:spPr>
          </c:marker>
          <c:cat>
            <c:strRef>
              <c:f>Sheet1!$A$2:$A$29</c:f>
              <c:strCache>
                <c:ptCount val="28"/>
                <c:pt idx="0">
                  <c:v>08-10</c:v>
                </c:pt>
                <c:pt idx="1">
                  <c:v>08-11</c:v>
                </c:pt>
                <c:pt idx="2">
                  <c:v>08-12</c:v>
                </c:pt>
                <c:pt idx="3">
                  <c:v>08-13</c:v>
                </c:pt>
                <c:pt idx="4">
                  <c:v>08-14</c:v>
                </c:pt>
                <c:pt idx="5">
                  <c:v>08-17</c:v>
                </c:pt>
                <c:pt idx="6">
                  <c:v>08-18</c:v>
                </c:pt>
                <c:pt idx="7">
                  <c:v>08-19</c:v>
                </c:pt>
                <c:pt idx="8">
                  <c:v>08-20</c:v>
                </c:pt>
                <c:pt idx="9">
                  <c:v>08-21</c:v>
                </c:pt>
                <c:pt idx="10">
                  <c:v>08-24</c:v>
                </c:pt>
                <c:pt idx="11">
                  <c:v>08-25</c:v>
                </c:pt>
                <c:pt idx="12">
                  <c:v>08-26</c:v>
                </c:pt>
                <c:pt idx="13">
                  <c:v>08-27</c:v>
                </c:pt>
                <c:pt idx="14">
                  <c:v>08-28</c:v>
                </c:pt>
                <c:pt idx="15">
                  <c:v>08-31</c:v>
                </c:pt>
                <c:pt idx="16">
                  <c:v>09-01</c:v>
                </c:pt>
                <c:pt idx="17">
                  <c:v>09-02</c:v>
                </c:pt>
                <c:pt idx="18">
                  <c:v>09-03</c:v>
                </c:pt>
                <c:pt idx="19">
                  <c:v>09-04</c:v>
                </c:pt>
                <c:pt idx="20">
                  <c:v>09-07</c:v>
                </c:pt>
                <c:pt idx="21">
                  <c:v>09-08</c:v>
                </c:pt>
                <c:pt idx="22">
                  <c:v>09-09</c:v>
                </c:pt>
                <c:pt idx="23">
                  <c:v>09-10</c:v>
                </c:pt>
                <c:pt idx="24">
                  <c:v>09-11</c:v>
                </c:pt>
                <c:pt idx="25">
                  <c:v>09-14</c:v>
                </c:pt>
                <c:pt idx="26">
                  <c:v>09-15</c:v>
                </c:pt>
                <c:pt idx="27">
                  <c:v>09-16</c:v>
                </c:pt>
              </c:strCache>
            </c: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>2014.889145</c:v>
                </c:pt>
                <c:pt idx="1">
                  <c:v>1988.068657</c:v>
                </c:pt>
                <c:pt idx="2">
                  <c:v>2019.917986</c:v>
                </c:pt>
                <c:pt idx="3">
                  <c:v>2035.004511</c:v>
                </c:pt>
                <c:pt idx="4">
                  <c:v>2157.372986</c:v>
                </c:pt>
                <c:pt idx="5">
                  <c:v>2219.395364</c:v>
                </c:pt>
                <c:pt idx="6">
                  <c:v>2145.639023</c:v>
                </c:pt>
                <c:pt idx="7">
                  <c:v>2137.25762</c:v>
                </c:pt>
                <c:pt idx="8">
                  <c:v>2120.494815</c:v>
                </c:pt>
                <c:pt idx="9">
                  <c:v>6255.0</c:v>
                </c:pt>
                <c:pt idx="10">
                  <c:v>6300.0</c:v>
                </c:pt>
                <c:pt idx="11">
                  <c:v>6440.0</c:v>
                </c:pt>
                <c:pt idx="12">
                  <c:v>6785.0</c:v>
                </c:pt>
                <c:pt idx="13">
                  <c:v>6815.0</c:v>
                </c:pt>
                <c:pt idx="14">
                  <c:v>7200.0</c:v>
                </c:pt>
                <c:pt idx="15">
                  <c:v>2378.64201</c:v>
                </c:pt>
                <c:pt idx="16">
                  <c:v>2614.997559</c:v>
                </c:pt>
                <c:pt idx="17">
                  <c:v>2610.0</c:v>
                </c:pt>
                <c:pt idx="18">
                  <c:v>2475.0</c:v>
                </c:pt>
                <c:pt idx="19">
                  <c:v>2565.0</c:v>
                </c:pt>
                <c:pt idx="20">
                  <c:v>2490.0</c:v>
                </c:pt>
                <c:pt idx="21">
                  <c:v>2340.0</c:v>
                </c:pt>
                <c:pt idx="22">
                  <c:v>2325.0</c:v>
                </c:pt>
                <c:pt idx="23">
                  <c:v>2345.0</c:v>
                </c:pt>
                <c:pt idx="24">
                  <c:v>2310.0</c:v>
                </c:pt>
                <c:pt idx="25">
                  <c:v>2270.0</c:v>
                </c:pt>
                <c:pt idx="26">
                  <c:v>2315.0</c:v>
                </c:pt>
                <c:pt idx="27">
                  <c:v>2165.0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TEJ 還原價（＝修正後的 FinMind）</c:v>
                </c:pt>
              </c:strCache>
            </c:strRef>
          </c:tx>
          <c:spPr>
            <a:ln w="28575">
              <a:solidFill>
                <a:schemeClr val="accent1"/>
              </a:solidFill>
            </a:ln>
          </c:spPr>
          <c:marker>
            <c:symbol val="circle"/>
            <c:size val="6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</c:spPr>
          </c:marker>
          <c:cat>
            <c:strRef>
              <c:f>Sheet1!$A$2:$A$29</c:f>
              <c:strCache>
                <c:ptCount val="28"/>
                <c:pt idx="0">
                  <c:v>08-10</c:v>
                </c:pt>
                <c:pt idx="1">
                  <c:v>08-11</c:v>
                </c:pt>
                <c:pt idx="2">
                  <c:v>08-12</c:v>
                </c:pt>
                <c:pt idx="3">
                  <c:v>08-13</c:v>
                </c:pt>
                <c:pt idx="4">
                  <c:v>08-14</c:v>
                </c:pt>
                <c:pt idx="5">
                  <c:v>08-17</c:v>
                </c:pt>
                <c:pt idx="6">
                  <c:v>08-18</c:v>
                </c:pt>
                <c:pt idx="7">
                  <c:v>08-19</c:v>
                </c:pt>
                <c:pt idx="8">
                  <c:v>08-20</c:v>
                </c:pt>
                <c:pt idx="9">
                  <c:v>08-21</c:v>
                </c:pt>
                <c:pt idx="10">
                  <c:v>08-24</c:v>
                </c:pt>
                <c:pt idx="11">
                  <c:v>08-25</c:v>
                </c:pt>
                <c:pt idx="12">
                  <c:v>08-26</c:v>
                </c:pt>
                <c:pt idx="13">
                  <c:v>08-27</c:v>
                </c:pt>
                <c:pt idx="14">
                  <c:v>08-28</c:v>
                </c:pt>
                <c:pt idx="15">
                  <c:v>08-31</c:v>
                </c:pt>
                <c:pt idx="16">
                  <c:v>09-01</c:v>
                </c:pt>
                <c:pt idx="17">
                  <c:v>09-02</c:v>
                </c:pt>
                <c:pt idx="18">
                  <c:v>09-03</c:v>
                </c:pt>
                <c:pt idx="19">
                  <c:v>09-04</c:v>
                </c:pt>
                <c:pt idx="20">
                  <c:v>09-07</c:v>
                </c:pt>
                <c:pt idx="21">
                  <c:v>09-08</c:v>
                </c:pt>
                <c:pt idx="22">
                  <c:v>09-09</c:v>
                </c:pt>
                <c:pt idx="23">
                  <c:v>09-10</c:v>
                </c:pt>
                <c:pt idx="24">
                  <c:v>09-11</c:v>
                </c:pt>
                <c:pt idx="25">
                  <c:v>09-14</c:v>
                </c:pt>
                <c:pt idx="26">
                  <c:v>09-15</c:v>
                </c:pt>
                <c:pt idx="27">
                  <c:v>09-16</c:v>
                </c:pt>
              </c:strCache>
            </c:strRef>
          </c:cat>
          <c:val>
            <c:numRef>
              <c:f>Sheet1!$D$2:$D$29</c:f>
              <c:numCache>
                <c:formatCode>General</c:formatCode>
                <c:ptCount val="28"/>
                <c:pt idx="0">
                  <c:v>2014.8826</c:v>
                </c:pt>
                <c:pt idx="1">
                  <c:v>1988.0622</c:v>
                </c:pt>
                <c:pt idx="2">
                  <c:v>2019.9114</c:v>
                </c:pt>
                <c:pt idx="3">
                  <c:v>2034.9979</c:v>
                </c:pt>
                <c:pt idx="4">
                  <c:v>2157.3659</c:v>
                </c:pt>
                <c:pt idx="5">
                  <c:v>2219.3881</c:v>
                </c:pt>
                <c:pt idx="6">
                  <c:v>2145.632</c:v>
                </c:pt>
                <c:pt idx="7">
                  <c:v>2137.2506</c:v>
                </c:pt>
                <c:pt idx="8">
                  <c:v>2120.4879</c:v>
                </c:pt>
                <c:pt idx="9">
                  <c:v>2097.02</c:v>
                </c:pt>
                <c:pt idx="10">
                  <c:v>2112.1065</c:v>
                </c:pt>
                <c:pt idx="11">
                  <c:v>2159.0422</c:v>
                </c:pt>
                <c:pt idx="12">
                  <c:v>2274.7052</c:v>
                </c:pt>
                <c:pt idx="13">
                  <c:v>2284.7628</c:v>
                </c:pt>
                <c:pt idx="14">
                  <c:v>2413.836</c:v>
                </c:pt>
                <c:pt idx="15">
                  <c:v>2378.6342</c:v>
                </c:pt>
                <c:pt idx="16">
                  <c:v>2614.989</c:v>
                </c:pt>
                <c:pt idx="17">
                  <c:v>2610.0</c:v>
                </c:pt>
                <c:pt idx="18">
                  <c:v>2475.0</c:v>
                </c:pt>
                <c:pt idx="19">
                  <c:v>2565.0</c:v>
                </c:pt>
                <c:pt idx="20">
                  <c:v>2490.0</c:v>
                </c:pt>
                <c:pt idx="21">
                  <c:v>2340.0</c:v>
                </c:pt>
                <c:pt idx="22">
                  <c:v>2325.0</c:v>
                </c:pt>
                <c:pt idx="23">
                  <c:v>2345.0</c:v>
                </c:pt>
                <c:pt idx="24">
                  <c:v>2310.0</c:v>
                </c:pt>
                <c:pt idx="25">
                  <c:v>2270.0</c:v>
                </c:pt>
                <c:pt idx="26">
                  <c:v>2315.0</c:v>
                </c:pt>
                <c:pt idx="27">
                  <c:v>2165.0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chemeClr val="accent5"/>
            </a:solidFill>
          </a:ln>
        </c:spPr>
        <c:txPr>
          <a:bodyPr/>
          <a:lstStyle/>
          <a:p>
            <a:pPr>
              <a:defRPr sz="1100">
                <a:solidFill>
                  <a:schemeClr val="accent4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tickLblSkip val="3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 w="6350">
              <a:solidFill>
                <a:schemeClr val="accent6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chemeClr val="accent4"/>
                </a:solidFill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100">
              <a:solidFill>
                <a:schemeClr val="accent4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筆數</c:v>
                </c:pt>
              </c:strCache>
            </c:strRef>
          </c:tx>
          <c:spPr>
            <a:solidFill>
              <a:schemeClr val="tx2"/>
            </a:solidFill>
          </c:spPr>
          <c:invertIfNegative val="0"/>
          <c:dPt>
            <c:idx val="0"/>
            <c:spPr>
              <a:solidFill>
                <a:schemeClr val="accent5"/>
              </a:solidFill>
            </c:spPr>
          </c:dPt>
          <c:dPt>
            <c:idx val="1"/>
            <c:spPr>
              <a:solidFill>
                <a:schemeClr val="accent2"/>
              </a:solidFill>
            </c:spPr>
          </c:dPt>
          <c:dPt>
            <c:idx val="2"/>
            <c:spPr>
              <a:solidFill>
                <a:schemeClr val="accent1"/>
              </a:solidFill>
            </c:spPr>
          </c:dPt>
          <c:cat>
            <c:strRef>
              <c:f>Sheet1!$A$2:$A$4</c:f>
              <c:strCache>
                <c:ptCount val="3"/>
                <c:pt idx="0">
                  <c:v>未還原價</c:v>
                </c:pt>
                <c:pt idx="1">
                  <c:v>FinMind 還原價</c:v>
                </c:pt>
                <c:pt idx="2">
                  <c:v>TEJ 還原價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6069</c:v>
                </c:pt>
                <c:pt idx="1">
                  <c:v>2141</c:v>
                </c:pt>
                <c:pt idx="2">
                  <c:v>851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chemeClr val="accent5"/>
            </a:solidFill>
          </a:ln>
        </c:spPr>
        <c:txPr>
          <a:bodyPr/>
          <a:lstStyle/>
          <a:p>
            <a:pPr>
              <a:defRPr sz="1200">
                <a:solidFill>
                  <a:schemeClr val="accent4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6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chemeClr val="accent4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11680"/>
            <a:ext cx="10728655" cy="1737360"/>
          </a:xfrm>
        </p:spPr>
        <p:txBody>
          <a:bodyPr anchor="b"/>
          <a:lstStyle>
            <a:lvl1pPr marL="0" indent="0" algn="l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931920"/>
            <a:ext cx="10728655" cy="1097280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accent6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2377440"/>
            <a:ext cx="10728655" cy="1188720"/>
          </a:xfrm>
        </p:spPr>
        <p:txBody>
          <a:bodyPr anchor="b"/>
          <a:lstStyle>
            <a:lvl1pPr marL="0" indent="0" algn="l">
              <a:buNone/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3703320"/>
            <a:ext cx="10728655" cy="1097280"/>
          </a:xfrm>
        </p:spPr>
        <p:txBody>
          <a:bodyPr anchor="t"/>
          <a:lstStyle>
            <a:lvl1pPr marL="0" indent="0" algn="l"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822960"/>
          </a:xfrm>
        </p:spPr>
        <p:txBody>
          <a:bodyPr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01" name="Footer label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zh-TW" sz="1000">
                <a:solidFill>
                  <a:schemeClr val="accent5"/>
                </a:solidFill>
              </a:rPr>
              <a:t>financial-db｜台股研究級資料倉儲</a:t>
            </a:r>
          </a:p>
        </p:txBody>
      </p:sp>
      <p:sp>
        <p:nvSpPr>
          <p:cNvPr id="902" name="Slide number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fld id="{B6F15528-21DE-4FAA-801E-634DDDAF4B2B}" type="slidenum">
              <a:rPr lang="zh-TW" sz="1000">
                <a:solidFill>
                  <a:schemeClr val="accent5"/>
                </a:solidFill>
              </a:rPr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000" kern="1200" b="1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00" kern="1200" b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financial-db</a:t>
            </a:r>
          </a:p>
          <a:p>
            <a:r>
              <a:t>台股研究級資料倉儲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以 Parquet＋DuckDB 建置兩條可重現的資料管線，並用跨來源驗證找出資料與程式的錯誤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207008"/>
            <a:ext cx="182880" cy="18288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14300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500" b="1" i="0">
                <a:solidFill>
                  <a:schemeClr val="bg1"/>
                </a:solidFill>
              </a:rPr>
              <a:t>FinMind</a:t>
            </a:r>
          </a:p>
        </p:txBody>
      </p:sp>
      <p:sp>
        <p:nvSpPr>
          <p:cNvPr id="6" name="Oval 5"/>
          <p:cNvSpPr/>
          <p:nvPr/>
        </p:nvSpPr>
        <p:spPr>
          <a:xfrm>
            <a:off x="2331720" y="1207008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06040" y="114300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500" b="1" i="0">
                <a:solidFill>
                  <a:schemeClr val="bg1"/>
                </a:solidFill>
              </a:rPr>
              <a:t>TEJ</a:t>
            </a:r>
          </a:p>
        </p:txBody>
      </p:sp>
      <p:sp>
        <p:nvSpPr>
          <p:cNvPr id="8" name="Oval 7"/>
          <p:cNvSpPr/>
          <p:nvPr/>
        </p:nvSpPr>
        <p:spPr>
          <a:xfrm>
            <a:off x="3931920" y="1207008"/>
            <a:ext cx="182880" cy="18288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14300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500" b="1" i="0">
                <a:solidFill>
                  <a:schemeClr val="bg1"/>
                </a:solidFill>
              </a:rPr>
              <a:t>DuckDB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300" b="0" i="0">
                <a:solidFill>
                  <a:schemeClr val="accent5"/>
                </a:solidFill>
              </a:rPr>
              <a:t>研究所備審資料｜專題說明｜2026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一頁看懂：建了什麼、驗證了什麼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2560320" cy="214884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645920"/>
            <a:ext cx="109728" cy="109728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10512"/>
            <a:ext cx="219456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3600" b="1" i="0">
                <a:solidFill>
                  <a:schemeClr val="tx2"/>
                </a:solidFill>
              </a:rPr>
              <a:t>3,394 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04872"/>
            <a:ext cx="219456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400" b="0" i="0">
                <a:solidFill>
                  <a:schemeClr val="accent4"/>
                </a:solidFill>
              </a:rPr>
              <a:t>列日資料：兩個來源的行情與指數成分，最早自 1994 年 10 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463040"/>
            <a:ext cx="2560320" cy="214884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566160" y="1645920"/>
            <a:ext cx="109728" cy="10972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810512"/>
            <a:ext cx="219456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3600" b="1" i="0">
                <a:solidFill>
                  <a:schemeClr val="tx2"/>
                </a:solidFill>
              </a:rPr>
              <a:t>2 條管線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404872"/>
            <a:ext cx="219456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400" b="0" i="0">
                <a:solidFill>
                  <a:schemeClr val="accent4"/>
                </a:solidFill>
              </a:rPr>
              <a:t>FinMind API 與 TEJ Excel 增益集，共用三層契約，對外提供 39 個 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40480"/>
            <a:ext cx="2560320" cy="214884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4023360"/>
            <a:ext cx="109728" cy="10972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87952"/>
            <a:ext cx="219456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3600" b="1" i="0">
                <a:solidFill>
                  <a:schemeClr val="tx2"/>
                </a:solidFill>
              </a:rPr>
              <a:t>868 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82312"/>
            <a:ext cx="219456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400" b="0" i="0">
                <a:solidFill>
                  <a:schemeClr val="accent4"/>
                </a:solidFill>
              </a:rPr>
              <a:t>筆日報酬做跨來源比對，99.96% 相差在 10bp 以內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3840480"/>
            <a:ext cx="2560320" cy="214884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66160" y="4023360"/>
            <a:ext cx="109728" cy="109728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4187952"/>
            <a:ext cx="219456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3600" b="1" i="0">
                <a:solidFill>
                  <a:schemeClr val="tx2"/>
                </a:solidFill>
              </a:rPr>
              <a:t>286＋63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782312"/>
            <a:ext cx="219456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400" b="0" i="0">
                <a:solidFill>
                  <a:schemeClr val="accent4"/>
                </a:solidFill>
              </a:rPr>
              <a:t>個自動化測試與健康檢查，每次改動後全部重跑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463040"/>
            <a:ext cx="5379415" cy="1417320"/>
          </a:xfrm>
          <a:prstGeom prst="roundRect">
            <a:avLst>
              <a:gd name="adj" fmla="val 387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1703832"/>
            <a:ext cx="128016" cy="128016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5975" y="1645920"/>
            <a:ext cx="479419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600" b="1" i="0">
                <a:solidFill>
                  <a:schemeClr val="tx2"/>
                </a:solidFill>
              </a:rPr>
              <a:t>建了什麼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023872"/>
            <a:ext cx="5013655" cy="673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400" b="0" i="0">
                <a:solidFill>
                  <a:schemeClr val="tx1"/>
                </a:solidFill>
              </a:rPr>
              <a:t>把上游資料原樣落地（raw），整理成有型別、去重、分區的 Parquet（processed），再用一張資料表都沒有的 DuckDB view 提供查詢。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035808"/>
            <a:ext cx="5379415" cy="1417320"/>
          </a:xfrm>
          <a:prstGeom prst="roundRect">
            <a:avLst>
              <a:gd name="adj" fmla="val 387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46520" y="3276600"/>
            <a:ext cx="128016" cy="128016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65975" y="3218688"/>
            <a:ext cx="479419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600" b="1" i="0">
                <a:solidFill>
                  <a:schemeClr val="tx2"/>
                </a:solidFill>
              </a:rPr>
              <a:t>怎麼確保正確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596640"/>
            <a:ext cx="5013655" cy="673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400" b="0" i="0">
                <a:solidFill>
                  <a:schemeClr val="tx1"/>
                </a:solidFill>
              </a:rPr>
              <a:t>每一層都能由上一層重建；文件與斷言裡的數字一律實測；用對帳 view、健康檢查與第二個資料來源交叉驗證。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608576"/>
            <a:ext cx="5379415" cy="1417320"/>
          </a:xfrm>
          <a:prstGeom prst="roundRect">
            <a:avLst>
              <a:gd name="adj" fmla="val 387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46520" y="4849368"/>
            <a:ext cx="128016" cy="12801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65975" y="4791456"/>
            <a:ext cx="479419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600" b="1" i="0">
                <a:solidFill>
                  <a:schemeClr val="tx2"/>
                </a:solidFill>
              </a:rPr>
              <a:t>發現了什麼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169408"/>
            <a:ext cx="5013655" cy="673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400" b="0" i="0">
                <a:solidFill>
                  <a:schemeClr val="tx1"/>
                </a:solidFill>
              </a:rPr>
              <a:t>FinMind 的還原價在上市股 2003 年前、上櫃股 2008 年前其實沒有還原；同一套比對也抓到並修正了自己管線的一個去重錯誤。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為什麼不直接呼叫 API：回測資料的三個陷阱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600" b="0" i="0">
                <a:solidFill>
                  <a:schemeClr val="accent4"/>
                </a:solidFill>
              </a:rPr>
              <a:t>直接拿公開資料做回測，結果常常好得不真實。這個專案把三個常見問題變成設計需求。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01952"/>
            <a:ext cx="3515258" cy="4315968"/>
          </a:xfrm>
          <a:prstGeom prst="roundRect">
            <a:avLst>
              <a:gd name="adj" fmla="val 156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7" y="2298192"/>
            <a:ext cx="128016" cy="12801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" y="2194560"/>
            <a:ext cx="2710586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2200" b="1" i="0">
                <a:solidFill>
                  <a:schemeClr val="tx2"/>
                </a:solidFill>
              </a:rPr>
              <a:t>存活者偏誤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686812"/>
            <a:ext cx="2930042" cy="323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zh-TW" altLang="en-US" sz="1300" b="1" i="0">
                <a:solidFill>
                  <a:schemeClr val="accent4"/>
                </a:solidFill>
              </a:rPr>
              <a:t>問題</a:t>
            </a:r>
          </a:p>
          <a:p>
            <a:pPr algn="l">
              <a:lnSpc>
                <a:spcPct val="112000"/>
              </a:lnSpc>
              <a:spcAft>
                <a:spcPts val="2200"/>
              </a:spcAft>
            </a:pPr>
            <a:r>
              <a:rPr lang="zh-TW" altLang="en-US" sz="1600" b="0" i="0">
                <a:solidFill>
                  <a:schemeClr val="tx1"/>
                </a:solidFill>
              </a:rPr>
              <a:t>證券主檔只列現在還在的股票，已下市的公司會從歷史橫斷面中消失，報酬因此被高估。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zh-TW" altLang="en-US" sz="1300" b="1" i="0">
                <a:solidFill>
                  <a:schemeClr val="accent4"/>
                </a:solidFill>
              </a:rPr>
              <a:t>設計回應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600" b="0" i="0">
                <a:solidFill>
                  <a:schemeClr val="tx1"/>
                </a:solidFill>
              </a:rPr>
              <a:t>每月抽一天掃描全市場，找回 767 檔已下市證券；TEJ 側保留 462 檔已停止交易公司的完整歷史。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8218" y="1901952"/>
            <a:ext cx="3515258" cy="4315968"/>
          </a:xfrm>
          <a:prstGeom prst="roundRect">
            <a:avLst>
              <a:gd name="adj" fmla="val 156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30826" y="2298192"/>
            <a:ext cx="128016" cy="12801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50282" y="2194560"/>
            <a:ext cx="2710586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2200" b="1" i="0">
                <a:solidFill>
                  <a:schemeClr val="tx2"/>
                </a:solidFill>
              </a:rPr>
              <a:t>還原價會被改寫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0826" y="2686812"/>
            <a:ext cx="2930042" cy="323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zh-TW" altLang="en-US" sz="1300" b="1" i="0">
                <a:solidFill>
                  <a:schemeClr val="accent4"/>
                </a:solidFill>
              </a:rPr>
              <a:t>問題</a:t>
            </a:r>
          </a:p>
          <a:p>
            <a:pPr algn="l">
              <a:lnSpc>
                <a:spcPct val="112000"/>
              </a:lnSpc>
              <a:spcAft>
                <a:spcPts val="2200"/>
              </a:spcAft>
            </a:pPr>
            <a:r>
              <a:rPr lang="zh-TW" altLang="en-US" sz="1600" b="0" i="0">
                <a:solidFill>
                  <a:schemeClr val="tx1"/>
                </a:solidFill>
              </a:rPr>
              <a:t>每次除權息都會重寫整段還原歷史。只會往後追加的資料庫，舊資料會悄悄過期。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zh-TW" altLang="en-US" sz="1300" b="1" i="0">
                <a:solidFill>
                  <a:schemeClr val="accent4"/>
                </a:solidFill>
              </a:rPr>
              <a:t>設計回應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600" b="0" i="0">
                <a:solidFill>
                  <a:schemeClr val="tx1"/>
                </a:solidFill>
              </a:rPr>
              <a:t>每週全量重抓還原價，並把「這筆資料屬於哪個還原基準」納入去重規則。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7796" y="1901952"/>
            <a:ext cx="3515258" cy="4315968"/>
          </a:xfrm>
          <a:prstGeom prst="roundRect">
            <a:avLst>
              <a:gd name="adj" fmla="val 156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20404" y="2298192"/>
            <a:ext cx="128016" cy="128016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39860" y="2194560"/>
            <a:ext cx="2710586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2200" b="1" i="0">
                <a:solidFill>
                  <a:schemeClr val="tx2"/>
                </a:solidFill>
              </a:rPr>
              <a:t>單一來源無法自證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0404" y="2686812"/>
            <a:ext cx="2930042" cy="323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zh-TW" altLang="en-US" sz="1300" b="1" i="0">
                <a:solidFill>
                  <a:schemeClr val="accent4"/>
                </a:solidFill>
              </a:rPr>
              <a:t>問題</a:t>
            </a:r>
          </a:p>
          <a:p>
            <a:pPr algn="l">
              <a:lnSpc>
                <a:spcPct val="112000"/>
              </a:lnSpc>
              <a:spcAft>
                <a:spcPts val="2200"/>
              </a:spcAft>
            </a:pPr>
            <a:r>
              <a:rPr lang="zh-TW" altLang="en-US" sz="1600" b="0" i="0">
                <a:solidFill>
                  <a:schemeClr val="tx1"/>
                </a:solidFill>
              </a:rPr>
              <a:t>單位錯誤、缺漏、沒調整到的除權息——來源自己的錯，只看這個來源是看不出來的。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zh-TW" altLang="en-US" sz="1300" b="1" i="0">
                <a:solidFill>
                  <a:schemeClr val="accent4"/>
                </a:solidFill>
              </a:rPr>
              <a:t>設計回應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600" b="0" i="0">
                <a:solidFill>
                  <a:schemeClr val="tx1"/>
                </a:solidFill>
              </a:rPr>
              <a:t>兩個獨立來源、同一套契約，逐日比對報酬，再用漲跌幅限制檢驗合理性。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　架構與資料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三層契約、Parquet＋DuckDB 的取捨、資料盤點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三層契約：兩條管線，同一個心智模型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600" b="0" i="0">
                <a:solidFill>
                  <a:schemeClr val="accent4"/>
                </a:solidFill>
              </a:rPr>
              <a:t>raw 保留上游原貌，processed 才是查詢契約，DuckDB 只是蓋在 Parquet 上的 view。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1665" y="1901952"/>
            <a:ext cx="1852767" cy="5915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altLang="en-US" sz="1500" b="1" i="0">
                <a:solidFill>
                  <a:schemeClr val="tx2"/>
                </a:solidFill>
              </a:rPr>
              <a:t>來源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altLang="en-US" sz="1300" b="0" i="0">
                <a:solidFill>
                  <a:schemeClr val="accent4"/>
                </a:solidFill>
              </a:rPr>
              <a:t>上游系統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320" y="1901952"/>
            <a:ext cx="1852767" cy="5915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altLang="en-US" sz="1500" b="1" i="0">
                <a:solidFill>
                  <a:schemeClr val="tx2"/>
                </a:solidFill>
              </a:rPr>
              <a:t>raw 層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altLang="en-US" sz="1300" b="0" i="0">
                <a:solidFill>
                  <a:schemeClr val="accent4"/>
                </a:solidFill>
              </a:rPr>
              <a:t>來源給什麼就存什麼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40976" y="1901952"/>
            <a:ext cx="1852767" cy="5915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altLang="en-US" sz="1500" b="1" i="0">
                <a:solidFill>
                  <a:schemeClr val="tx2"/>
                </a:solidFill>
              </a:rPr>
              <a:t>processed 層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altLang="en-US" sz="1300" b="0" i="0">
                <a:solidFill>
                  <a:schemeClr val="accent4"/>
                </a:solidFill>
              </a:rPr>
              <a:t>定型・去重・分區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632" y="1901952"/>
            <a:ext cx="1852767" cy="5915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altLang="en-US" sz="1500" b="1" i="0">
                <a:solidFill>
                  <a:schemeClr val="tx2"/>
                </a:solidFill>
              </a:rPr>
              <a:t>view 層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altLang="en-US" sz="1300" b="0" i="0">
                <a:solidFill>
                  <a:schemeClr val="accent4"/>
                </a:solidFill>
              </a:rPr>
              <a:t>純 view，可刪掉重建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90287" y="1901952"/>
            <a:ext cx="1852767" cy="5915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altLang="en-US" sz="1500" b="1" i="0">
                <a:solidFill>
                  <a:schemeClr val="tx2"/>
                </a:solidFill>
              </a:rPr>
              <a:t>使用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altLang="en-US" sz="1300" b="0" i="0">
                <a:solidFill>
                  <a:schemeClr val="accent4"/>
                </a:solidFill>
              </a:rPr>
              <a:t>一律唯讀連線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14246"/>
            <a:ext cx="851585" cy="313690"/>
          </a:xfrm>
          <a:prstGeom prst="roundRect">
            <a:avLst>
              <a:gd name="adj" fmla="val 50000"/>
            </a:avLst>
          </a:prstGeom>
          <a:solidFill>
            <a:schemeClr val="accent2">
              <a:lumMod val="18000"/>
              <a:lumOff val="8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lang="zh-TW" altLang="en-US" sz="1300" b="1" i="0">
                <a:solidFill>
                  <a:schemeClr val="tx2"/>
                </a:solidFill>
              </a:rPr>
              <a:t>FinMind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91665" y="2493454"/>
            <a:ext cx="1852767" cy="1553622"/>
          </a:xfrm>
          <a:prstGeom prst="roundRect">
            <a:avLst>
              <a:gd name="adj" fmla="val 3531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19681" y="2690431"/>
            <a:ext cx="109728" cy="109728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02561" y="2621470"/>
            <a:ext cx="1413855" cy="1297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500" b="1" i="0">
                <a:solidFill>
                  <a:schemeClr val="tx2"/>
                </a:solidFill>
              </a:rPr>
              <a:t>FinMind API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lang="zh-TW" altLang="en-US" sz="1300" b="0" i="0">
                <a:solidFill>
                  <a:schemeClr val="accent4"/>
                </a:solidFill>
              </a:rPr>
              <a:t>6 個 endpoint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lang="zh-TW" altLang="en-US" sz="1300" b="0" i="0">
                <a:solidFill>
                  <a:schemeClr val="accent4"/>
                </a:solidFill>
              </a:rPr>
              <a:t>＋已下市掃描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71864" y="3270265"/>
            <a:ext cx="167024" cy="0"/>
          </a:xfrm>
          <a:prstGeom prst="line">
            <a:avLst/>
          </a:prstGeom>
          <a:ln w="1905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66320" y="2493454"/>
            <a:ext cx="1852767" cy="1553622"/>
          </a:xfrm>
          <a:prstGeom prst="roundRect">
            <a:avLst>
              <a:gd name="adj" fmla="val 3531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94336" y="2690431"/>
            <a:ext cx="109728" cy="109728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77216" y="2621470"/>
            <a:ext cx="1413855" cy="1297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500" b="1" i="0">
                <a:solidFill>
                  <a:schemeClr val="tx2"/>
                </a:solidFill>
              </a:rPr>
              <a:t>原樣 Parquet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lang="zh-TW" altLang="en-US" sz="1300" b="0" i="0">
                <a:solidFill>
                  <a:schemeClr val="accent4"/>
                </a:solidFill>
              </a:rPr>
              <a:t>照上游原樣存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lang="zh-TW" altLang="en-US" sz="1300" b="0" i="0">
                <a:solidFill>
                  <a:schemeClr val="accent4"/>
                </a:solidFill>
              </a:rPr>
              <a:t>壞了可以重抓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46520" y="3270265"/>
            <a:ext cx="167024" cy="0"/>
          </a:xfrm>
          <a:prstGeom prst="line">
            <a:avLst/>
          </a:prstGeom>
          <a:ln w="1905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640976" y="2493454"/>
            <a:ext cx="1852767" cy="1553622"/>
          </a:xfrm>
          <a:prstGeom prst="roundRect">
            <a:avLst>
              <a:gd name="adj" fmla="val 3531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8992" y="2690431"/>
            <a:ext cx="109728" cy="109728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51872" y="2621470"/>
            <a:ext cx="1413855" cy="1297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500" b="1" i="0">
                <a:solidFill>
                  <a:schemeClr val="tx2"/>
                </a:solidFill>
              </a:rPr>
              <a:t>日分區 Parquet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lang="zh-TW" altLang="en-US" sz="1300" b="0" i="0">
                <a:solidFill>
                  <a:schemeClr val="accent4"/>
                </a:solidFill>
              </a:rPr>
              <a:t>未還原 1,175 萬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lang="zh-TW" altLang="en-US" sz="1300" b="0" i="0">
                <a:solidFill>
                  <a:schemeClr val="accent4"/>
                </a:solidFill>
              </a:rPr>
              <a:t>還原 1,125 萬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521175" y="3270265"/>
            <a:ext cx="167025" cy="0"/>
          </a:xfrm>
          <a:prstGeom prst="line">
            <a:avLst/>
          </a:prstGeom>
          <a:ln w="1905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15632" y="2493454"/>
            <a:ext cx="1852767" cy="1553622"/>
          </a:xfrm>
          <a:prstGeom prst="roundRect">
            <a:avLst>
              <a:gd name="adj" fmla="val 3531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43648" y="2690431"/>
            <a:ext cx="109728" cy="109728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26528" y="2621470"/>
            <a:ext cx="1413855" cy="1297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500" b="1" i="0">
                <a:solidFill>
                  <a:schemeClr val="tx2"/>
                </a:solidFill>
              </a:rPr>
              <a:t>DuckDB view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lang="zh-TW" altLang="en-US" sz="1300" b="0" i="0">
                <a:solidFill>
                  <a:schemeClr val="accent4"/>
                </a:solidFill>
              </a:rPr>
              <a:t>19 個 view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lang="zh-TW" altLang="en-US" sz="1300" b="0" i="0">
                <a:solidFill>
                  <a:schemeClr val="accent4"/>
                </a:solidFill>
              </a:rPr>
              <a:t>3 個 macro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lang="zh-TW" altLang="en-US" sz="1300" b="0" i="0">
                <a:solidFill>
                  <a:schemeClr val="accent4"/>
                </a:solidFill>
              </a:rPr>
              <a:t>零 table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595831" y="3270265"/>
            <a:ext cx="167024" cy="0"/>
          </a:xfrm>
          <a:prstGeom prst="line">
            <a:avLst/>
          </a:prstGeom>
          <a:ln w="1905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48640" y="5285089"/>
            <a:ext cx="851585" cy="313690"/>
          </a:xfrm>
          <a:prstGeom prst="roundRect">
            <a:avLst>
              <a:gd name="adj" fmla="val 50000"/>
            </a:avLst>
          </a:prstGeom>
          <a:solidFill>
            <a:schemeClr val="accent1">
              <a:lumMod val="18000"/>
              <a:lumOff val="8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lang="zh-TW" altLang="en-US" sz="1300" b="1" i="0">
                <a:solidFill>
                  <a:schemeClr val="tx2"/>
                </a:solidFill>
              </a:rPr>
              <a:t>TEJ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91665" y="4664297"/>
            <a:ext cx="1852767" cy="1553622"/>
          </a:xfrm>
          <a:prstGeom prst="roundRect">
            <a:avLst>
              <a:gd name="adj" fmla="val 3531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619681" y="4861274"/>
            <a:ext cx="109728" cy="10972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02561" y="4792313"/>
            <a:ext cx="1413855" cy="1297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500" b="1" i="0">
                <a:solidFill>
                  <a:schemeClr val="tx2"/>
                </a:solidFill>
              </a:rPr>
              <a:t>TEJ 增益集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lang="zh-TW" altLang="en-US" sz="1300" b="0" i="0">
                <a:solidFill>
                  <a:schemeClr val="accent4"/>
                </a:solidFill>
              </a:rPr>
              <a:t>住在 Excel 裡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lang="zh-TW" altLang="en-US" sz="1300" b="0" i="0">
                <a:solidFill>
                  <a:schemeClr val="accent4"/>
                </a:solidFill>
              </a:rPr>
              <a:t>COM 驅動更新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371864" y="5441108"/>
            <a:ext cx="167024" cy="0"/>
          </a:xfrm>
          <a:prstGeom prst="line">
            <a:avLst/>
          </a:prstGeom>
          <a:ln w="1905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566320" y="4664297"/>
            <a:ext cx="1852767" cy="1553622"/>
          </a:xfrm>
          <a:prstGeom prst="roundRect">
            <a:avLst>
              <a:gd name="adj" fmla="val 3531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694336" y="4861274"/>
            <a:ext cx="109728" cy="10972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77216" y="4792313"/>
            <a:ext cx="1413855" cy="1297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500" b="1" i="0">
                <a:solidFill>
                  <a:schemeClr val="tx2"/>
                </a:solidFill>
              </a:rPr>
              <a:t>xlsx 活頁簿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lang="zh-TW" altLang="en-US" sz="1300" b="0" i="0">
                <a:solidFill>
                  <a:schemeClr val="accent4"/>
                </a:solidFill>
              </a:rPr>
              <a:t>2,453＋48 本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lang="zh-TW" altLang="en-US" sz="1300" b="0" i="0">
                <a:solidFill>
                  <a:schemeClr val="accent4"/>
                </a:solidFill>
              </a:rPr>
              <a:t>壞了無法重抓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446520" y="5441108"/>
            <a:ext cx="167024" cy="0"/>
          </a:xfrm>
          <a:prstGeom prst="line">
            <a:avLst/>
          </a:prstGeom>
          <a:ln w="1905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640976" y="4664297"/>
            <a:ext cx="1852767" cy="1553622"/>
          </a:xfrm>
          <a:prstGeom prst="roundRect">
            <a:avLst>
              <a:gd name="adj" fmla="val 3531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768992" y="4861274"/>
            <a:ext cx="109728" cy="10972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51872" y="4792313"/>
            <a:ext cx="1413855" cy="1297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500" b="1" i="0">
                <a:solidFill>
                  <a:schemeClr val="tx2"/>
                </a:solidFill>
              </a:rPr>
              <a:t>月分區 Parquet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lang="zh-TW" altLang="en-US" sz="1300" b="0" i="0">
                <a:solidFill>
                  <a:schemeClr val="accent4"/>
                </a:solidFill>
              </a:rPr>
              <a:t>還原價 1,010 萬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lang="zh-TW" altLang="en-US" sz="1300" b="0" i="0">
                <a:solidFill>
                  <a:schemeClr val="accent4"/>
                </a:solidFill>
              </a:rPr>
              <a:t>指數成分 84 萬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521175" y="5441108"/>
            <a:ext cx="167025" cy="0"/>
          </a:xfrm>
          <a:prstGeom prst="line">
            <a:avLst/>
          </a:prstGeom>
          <a:ln w="1905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715632" y="4664297"/>
            <a:ext cx="1852767" cy="1553622"/>
          </a:xfrm>
          <a:prstGeom prst="roundRect">
            <a:avLst>
              <a:gd name="adj" fmla="val 3531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43648" y="4861274"/>
            <a:ext cx="109728" cy="10972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26528" y="4792313"/>
            <a:ext cx="1413855" cy="1297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500" b="1" i="0">
                <a:solidFill>
                  <a:schemeClr val="tx2"/>
                </a:solidFill>
              </a:rPr>
              <a:t>DuckDB view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lang="zh-TW" altLang="en-US" sz="1300" b="0" i="0">
                <a:solidFill>
                  <a:schemeClr val="accent4"/>
                </a:solidFill>
              </a:rPr>
              <a:t>20 個 view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lang="zh-TW" altLang="en-US" sz="1300" b="0" i="0">
                <a:solidFill>
                  <a:schemeClr val="accent4"/>
                </a:solidFill>
              </a:rPr>
              <a:t>3 個 macro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lang="zh-TW" altLang="en-US" sz="1300" b="0" i="0">
                <a:solidFill>
                  <a:schemeClr val="accent4"/>
                </a:solidFill>
              </a:rPr>
              <a:t>零 table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595831" y="5441108"/>
            <a:ext cx="167024" cy="0"/>
          </a:xfrm>
          <a:prstGeom prst="line">
            <a:avLst/>
          </a:prstGeom>
          <a:ln w="1905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9790287" y="2493454"/>
            <a:ext cx="1852767" cy="3724465"/>
          </a:xfrm>
          <a:prstGeom prst="roundRect">
            <a:avLst>
              <a:gd name="adj" fmla="val 2961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918303" y="2690431"/>
            <a:ext cx="109728" cy="10972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01183" y="2621470"/>
            <a:ext cx="1413855" cy="34684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500" b="1" i="0">
                <a:solidFill>
                  <a:schemeClr val="tx2"/>
                </a:solidFill>
              </a:rPr>
              <a:t>研究與回測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lang="zh-TW" altLang="en-US" sz="1300" b="0" i="0">
                <a:solidFill>
                  <a:schemeClr val="accent4"/>
                </a:solidFill>
              </a:rPr>
              <a:t>Jupyter・SQL・DBeaver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lang="zh-TW" altLang="en-US" sz="1300" b="0" i="0">
                <a:solidFill>
                  <a:schemeClr val="accent4"/>
                </a:solidFill>
              </a:rPr>
              <a:t/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lang="zh-TW" altLang="en-US" sz="1300" b="0" i="0">
                <a:solidFill>
                  <a:schemeClr val="accent4"/>
                </a:solidFill>
              </a:rPr>
              <a:t>價格、證券主檔、產業、交易日曆、每日指數成分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lang="zh-TW" altLang="en-US" sz="1300" b="0" i="0">
                <a:solidFill>
                  <a:schemeClr val="accent4"/>
                </a:solidFill>
              </a:rPr>
              <a:t/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lang="zh-TW" altLang="en-US" sz="1300" b="0" i="0">
                <a:solidFill>
                  <a:schemeClr val="accent4"/>
                </a:solidFill>
              </a:rPr>
              <a:t>涵蓋率與對帳也是 view，資料健不健康隨時可查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567360" y="4047077"/>
            <a:ext cx="0" cy="308610"/>
          </a:xfrm>
          <a:prstGeom prst="line">
            <a:avLst/>
          </a:prstGeom>
          <a:ln w="1905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2418048" y="4355687"/>
            <a:ext cx="4149312" cy="0"/>
          </a:xfrm>
          <a:prstGeom prst="line">
            <a:avLst/>
          </a:prstGeom>
          <a:ln w="1905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418048" y="4355687"/>
            <a:ext cx="0" cy="308610"/>
          </a:xfrm>
          <a:prstGeom prst="line">
            <a:avLst/>
          </a:prstGeom>
          <a:ln w="19050">
            <a:solidFill>
              <a:schemeClr val="accent4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677088" y="4244244"/>
            <a:ext cx="2891311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300" b="0" i="0">
                <a:solidFill>
                  <a:schemeClr val="accent4"/>
                </a:solidFill>
              </a:rPr>
              <a:t>唯一的相依：TEJ 更新前讀 FinMind 的交易日曆，決定要補哪些交易日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為什麼是 Parquet＋DuckDB：每個取捨都有實測數字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943600" cy="1444752"/>
          </a:xfrm>
          <a:prstGeom prst="roundRect">
            <a:avLst>
              <a:gd name="adj" fmla="val 3797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703832"/>
            <a:ext cx="128016" cy="128016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645920"/>
            <a:ext cx="535838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600" b="1" i="0">
                <a:solidFill>
                  <a:schemeClr val="tx2"/>
                </a:solidFill>
              </a:rPr>
              <a:t>Parquet 是唯一真相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23872"/>
            <a:ext cx="5577840" cy="701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400" b="0" i="0">
                <a:solidFill>
                  <a:schemeClr val="tx1"/>
                </a:solidFill>
              </a:rPr>
              <a:t>欄式、壓縮、任何工具都讀得到。DuckDB 檔裡一張資料表都沒有，刪掉重跑一支程式就回來，也避開了單一寫入者的檔案鎖。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63240"/>
            <a:ext cx="5943600" cy="1444752"/>
          </a:xfrm>
          <a:prstGeom prst="roundRect">
            <a:avLst>
              <a:gd name="adj" fmla="val 3797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304032"/>
            <a:ext cx="128016" cy="128016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3246120"/>
            <a:ext cx="535838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600" b="1" i="0">
                <a:solidFill>
                  <a:schemeClr val="tx2"/>
                </a:solidFill>
              </a:rPr>
              <a:t>分區粒度由更新方式決定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24072"/>
            <a:ext cx="5577840" cy="701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400" b="0" i="0">
                <a:solidFill>
                  <a:schemeClr val="tx1"/>
                </a:solidFill>
              </a:rPr>
              <a:t>FinMind 每天只新增一個檔，所以一天一檔、寫入天然冪等；TEJ 每次全量重建，改用一月一檔。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663440"/>
            <a:ext cx="5943600" cy="1444752"/>
          </a:xfrm>
          <a:prstGeom prst="roundRect">
            <a:avLst>
              <a:gd name="adj" fmla="val 3797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4904232"/>
            <a:ext cx="128016" cy="128016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4846320"/>
            <a:ext cx="535838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600" b="1" i="0">
                <a:solidFill>
                  <a:schemeClr val="tx2"/>
                </a:solidFill>
              </a:rPr>
              <a:t>日期查詢一律走 macro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24272"/>
            <a:ext cx="5577840" cy="701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400" b="0" i="0">
                <a:solidFill>
                  <a:schemeClr val="tx1"/>
                </a:solidFill>
              </a:rPr>
              <a:t>分區鍵是 year／month，只寫日期條件不會裁剪檔案。*_between(lo, hi) macro 會自動補上 year 條件。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1463040"/>
            <a:ext cx="2301087" cy="2240280"/>
          </a:xfrm>
          <a:prstGeom prst="roundRect">
            <a:avLst>
              <a:gd name="adj" fmla="val 244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49440" y="1645920"/>
            <a:ext cx="109728" cy="10972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1810512"/>
            <a:ext cx="1935327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3600" b="1" i="0">
                <a:solidFill>
                  <a:schemeClr val="tx2"/>
                </a:solidFill>
              </a:rPr>
              <a:t>268 KB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404872"/>
            <a:ext cx="1935327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400" b="0" i="0">
                <a:solidFill>
                  <a:schemeClr val="accent4"/>
                </a:solidFill>
              </a:rPr>
              <a:t>兩個 .duckdb 檔各自的大小：純 view、零 table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41967" y="1463040"/>
            <a:ext cx="2301087" cy="2240280"/>
          </a:xfrm>
          <a:prstGeom prst="roundRect">
            <a:avLst>
              <a:gd name="adj" fmla="val 244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524847" y="1645920"/>
            <a:ext cx="109728" cy="10972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24847" y="1810512"/>
            <a:ext cx="1935327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3600" b="1" i="0">
                <a:solidFill>
                  <a:schemeClr val="tx2"/>
                </a:solidFill>
              </a:rPr>
              <a:t>4.3×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4847" y="2404872"/>
            <a:ext cx="1935327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400" b="0" i="0">
                <a:solidFill>
                  <a:schemeClr val="accent4"/>
                </a:solidFill>
              </a:rPr>
              <a:t>補上分區條件後，查一季資料由 0.56 秒降到 0.13 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0" y="3867912"/>
            <a:ext cx="2301087" cy="2240280"/>
          </a:xfrm>
          <a:prstGeom prst="roundRect">
            <a:avLst>
              <a:gd name="adj" fmla="val 244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949440" y="4050792"/>
            <a:ext cx="109728" cy="10972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4215384"/>
            <a:ext cx="1935327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3600" b="1" i="0">
                <a:solidFill>
                  <a:schemeClr val="tx2"/>
                </a:solidFill>
              </a:rPr>
              <a:t>15×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809744"/>
            <a:ext cx="1935327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400" b="0" i="0">
                <a:solidFill>
                  <a:schemeClr val="accent4"/>
                </a:solidFill>
              </a:rPr>
              <a:t>TEJ 月分區相對日分區的全表掃描（624 ms → 41 ms）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41967" y="3867912"/>
            <a:ext cx="2301087" cy="2240280"/>
          </a:xfrm>
          <a:prstGeom prst="roundRect">
            <a:avLst>
              <a:gd name="adj" fmla="val 244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24847" y="4050792"/>
            <a:ext cx="109728" cy="10972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24847" y="4215384"/>
            <a:ext cx="1935327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3600" b="1" i="0">
                <a:solidFill>
                  <a:schemeClr val="tx2"/>
                </a:solidFill>
              </a:rPr>
              <a:t>2.8×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4847" y="4809744"/>
            <a:ext cx="1935327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400" b="0" i="0">
                <a:solidFill>
                  <a:schemeClr val="accent4"/>
                </a:solidFill>
              </a:rPr>
              <a:t>同一份資料，月分區的檔案較小（188.9 MB → 67.1 MB）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有哪些資料：3,394 萬列、五類資料集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7086599" cy="33101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822960"/>
                <a:gridCol w="1234440"/>
                <a:gridCol w="777240"/>
                <a:gridCol w="1874519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200" b="1" i="0">
                          <a:solidFill>
                            <a:schemeClr val="bg1"/>
                          </a:solidFill>
                        </a:rPr>
                        <a:t>資料集</a:t>
                      </a:r>
                    </a:p>
                  </a:txBody>
                  <a:tcPr marL="91440" marR="91440" marT="36576" marB="36576" anchor="ctr">
                    <a:solidFill>
                      <a:schemeClr val="tx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200" b="1" i="0">
                          <a:solidFill>
                            <a:schemeClr val="bg1"/>
                          </a:solidFill>
                        </a:rPr>
                        <a:t>來源</a:t>
                      </a:r>
                    </a:p>
                  </a:txBody>
                  <a:tcPr marL="91440" marR="91440" marT="36576" marB="36576" anchor="ctr">
                    <a:solidFill>
                      <a:schemeClr val="tx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lang="zh-TW" altLang="en-US" sz="1200" b="1" i="0">
                          <a:solidFill>
                            <a:schemeClr val="bg1"/>
                          </a:solidFill>
                        </a:rPr>
                        <a:t>列數</a:t>
                      </a:r>
                    </a:p>
                  </a:txBody>
                  <a:tcPr marL="91440" marR="91440" marT="36576" marB="36576" anchor="ctr">
                    <a:solidFill>
                      <a:schemeClr val="tx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lang="zh-TW" altLang="en-US" sz="1200" b="1" i="0">
                          <a:solidFill>
                            <a:schemeClr val="bg1"/>
                          </a:solidFill>
                        </a:rPr>
                        <a:t>證券數</a:t>
                      </a:r>
                    </a:p>
                  </a:txBody>
                  <a:tcPr marL="91440" marR="91440" marT="36576" marB="36576" anchor="ctr">
                    <a:solidFill>
                      <a:schemeClr val="tx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200" b="1" i="0">
                          <a:solidFill>
                            <a:schemeClr val="bg1"/>
                          </a:solidFill>
                        </a:rPr>
                        <a:t>期間</a:t>
                      </a:r>
                    </a:p>
                  </a:txBody>
                  <a:tcPr marL="91440" marR="91440" marT="36576" marB="36576" anchor="ctr">
                    <a:solidFill>
                      <a:schemeClr val="tx2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200" b="0" i="0">
                          <a:solidFill>
                            <a:schemeClr val="tx1"/>
                          </a:solidFill>
                        </a:rPr>
                        <a:t>未還原日行情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200" b="0" i="0">
                          <a:solidFill>
                            <a:schemeClr val="tx1"/>
                          </a:solidFill>
                        </a:rPr>
                        <a:t>開高低收、成交量值、筆數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200" b="1" i="0">
                          <a:solidFill>
                            <a:schemeClr val="accent2"/>
                          </a:solidFill>
                        </a:rPr>
                        <a:t>FinMind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lang="zh-TW" altLang="en-US" sz="1200" b="0" i="0">
                          <a:solidFill>
                            <a:schemeClr val="tx1"/>
                          </a:solidFill>
                        </a:rPr>
                        <a:t>11,751,428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lang="zh-TW" altLang="en-US" sz="1200" b="0" i="0">
                          <a:solidFill>
                            <a:schemeClr val="tx1"/>
                          </a:solidFill>
                        </a:rPr>
                        <a:t>3,614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200" b="0" i="0">
                          <a:solidFill>
                            <a:schemeClr val="tx1"/>
                          </a:solidFill>
                        </a:rPr>
                        <a:t>1994-10 → 2026-09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200" b="0" i="0">
                          <a:solidFill>
                            <a:schemeClr val="tx1"/>
                          </a:solidFill>
                        </a:rPr>
                        <a:t>還原日行情</a:t>
                      </a:r>
                    </a:p>
                  </a:txBody>
                  <a:tcPr marL="91440" marR="91440" marT="36576" marB="36576" anchor="ctr"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200" b="1" i="0">
                          <a:solidFill>
                            <a:schemeClr val="accent2"/>
                          </a:solidFill>
                        </a:rPr>
                        <a:t>FinMind</a:t>
                      </a:r>
                    </a:p>
                  </a:txBody>
                  <a:tcPr marL="91440" marR="91440" marT="36576" marB="36576" anchor="ctr"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lang="zh-TW" altLang="en-US" sz="1200" b="0" i="0">
                          <a:solidFill>
                            <a:schemeClr val="tx1"/>
                          </a:solidFill>
                        </a:rPr>
                        <a:t>11,252,462</a:t>
                      </a:r>
                    </a:p>
                  </a:txBody>
                  <a:tcPr marL="91440" marR="91440" marT="36576" marB="36576" anchor="ctr"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lang="zh-TW" altLang="en-US" sz="1200" b="0" i="0">
                          <a:solidFill>
                            <a:schemeClr val="tx1"/>
                          </a:solidFill>
                        </a:rPr>
                        <a:t>3,154</a:t>
                      </a:r>
                    </a:p>
                  </a:txBody>
                  <a:tcPr marL="91440" marR="91440" marT="36576" marB="36576" anchor="ctr"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200" b="0" i="0">
                          <a:solidFill>
                            <a:schemeClr val="tx1"/>
                          </a:solidFill>
                        </a:rPr>
                        <a:t>1994-10 → 2026-09</a:t>
                      </a:r>
                    </a:p>
                  </a:txBody>
                  <a:tcPr marL="91440" marR="91440" marT="36576" marB="36576" anchor="ctr">
                    <a:solidFill>
                      <a:schemeClr val="bg2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200" b="0" i="0">
                          <a:solidFill>
                            <a:schemeClr val="tx1"/>
                          </a:solidFill>
                        </a:rPr>
                        <a:t>還原日行情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200" b="0" i="0">
                          <a:solidFill>
                            <a:schemeClr val="tx1"/>
                          </a:solidFill>
                        </a:rPr>
                        <a:t>40 欄：估值、權重、處置旗標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200" b="1" i="0">
                          <a:solidFill>
                            <a:schemeClr val="accent1"/>
                          </a:solidFill>
                        </a:rPr>
                        <a:t>TEJ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lang="zh-TW" altLang="en-US" sz="1200" b="0" i="0">
                          <a:solidFill>
                            <a:schemeClr val="tx1"/>
                          </a:solidFill>
                        </a:rPr>
                        <a:t>10,101,676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lang="zh-TW" altLang="en-US" sz="1200" b="0" i="0">
                          <a:solidFill>
                            <a:schemeClr val="tx1"/>
                          </a:solidFill>
                        </a:rPr>
                        <a:t>2,453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200" b="0" i="0">
                          <a:solidFill>
                            <a:schemeClr val="tx1"/>
                          </a:solidFill>
                        </a:rPr>
                        <a:t>2000-09 → 2026-10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200" b="0" i="0">
                          <a:solidFill>
                            <a:schemeClr val="tx1"/>
                          </a:solidFill>
                        </a:rPr>
                        <a:t>指數每日成分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200" b="0" i="0">
                          <a:solidFill>
                            <a:schemeClr val="tx1"/>
                          </a:solidFill>
                        </a:rPr>
                        <a:t>TWN50、TM100</a:t>
                      </a:r>
                    </a:p>
                  </a:txBody>
                  <a:tcPr marL="91440" marR="91440" marT="36576" marB="36576" anchor="ctr"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200" b="1" i="0">
                          <a:solidFill>
                            <a:schemeClr val="accent1"/>
                          </a:solidFill>
                        </a:rPr>
                        <a:t>TEJ</a:t>
                      </a:r>
                    </a:p>
                  </a:txBody>
                  <a:tcPr marL="91440" marR="91440" marT="36576" marB="36576" anchor="ctr"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lang="zh-TW" altLang="en-US" sz="1200" b="0" i="0">
                          <a:solidFill>
                            <a:schemeClr val="tx1"/>
                          </a:solidFill>
                        </a:rPr>
                        <a:t>835,348</a:t>
                      </a:r>
                    </a:p>
                  </a:txBody>
                  <a:tcPr marL="91440" marR="91440" marT="36576" marB="36576" anchor="ctr"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lang="zh-TW" altLang="en-US" sz="1200" b="0" i="0">
                          <a:solidFill>
                            <a:schemeClr val="tx1"/>
                          </a:solidFill>
                        </a:rPr>
                        <a:t>367</a:t>
                      </a:r>
                    </a:p>
                  </a:txBody>
                  <a:tcPr marL="91440" marR="91440" marT="36576" marB="36576" anchor="ctr"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200" b="0" i="0">
                          <a:solidFill>
                            <a:schemeClr val="tx1"/>
                          </a:solidFill>
                        </a:rPr>
                        <a:t>2002-07 → 2026-10</a:t>
                      </a:r>
                    </a:p>
                  </a:txBody>
                  <a:tcPr marL="91440" marR="91440" marT="36576" marB="36576" anchor="ctr">
                    <a:solidFill>
                      <a:schemeClr val="bg2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200" b="0" i="0">
                          <a:solidFill>
                            <a:schemeClr val="tx1"/>
                          </a:solidFill>
                        </a:rPr>
                        <a:t>維度：證券主檔、產業鏈、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200" b="0" i="0">
                          <a:solidFill>
                            <a:schemeClr val="tx1"/>
                          </a:solidFill>
                        </a:rPr>
                        <a:t>交易日曆、已下市清單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200" b="1" i="0">
                          <a:solidFill>
                            <a:schemeClr val="accent2"/>
                          </a:solidFill>
                        </a:rPr>
                        <a:t>FinMind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lang="zh-TW" altLang="en-US" sz="1200" b="0" i="0">
                          <a:solidFill>
                            <a:schemeClr val="tx1"/>
                          </a:solidFill>
                        </a:rPr>
                        <a:t>3,916 檔證券</a:t>
                      </a:r>
                    </a:p>
                    <a:p>
                      <a:pPr algn="r">
                        <a:lnSpc>
                          <a:spcPct val="105000"/>
                        </a:lnSpc>
                      </a:pPr>
                      <a:r>
                        <a:rPr lang="zh-TW" altLang="en-US" sz="1200" b="0" i="0">
                          <a:solidFill>
                            <a:schemeClr val="tx1"/>
                          </a:solidFill>
                        </a:rPr>
                        <a:t>8,141 個交易日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lang="zh-TW" altLang="en-US" sz="1200" b="0" i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200" b="0" i="0">
                          <a:solidFill>
                            <a:schemeClr val="tx1"/>
                          </a:solidFill>
                        </a:rPr>
                        <a:t>1994-10 起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983480"/>
            <a:ext cx="7086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300" b="1" i="0">
                <a:solidFill>
                  <a:schemeClr val="accent4"/>
                </a:solidFill>
              </a:rPr>
              <a:t>沒有抓的：</a:t>
            </a:r>
            <a:r>
              <a:rPr lang="zh-TW" altLang="en-US" sz="1300" b="0" i="0">
                <a:solidFill>
                  <a:schemeClr val="accent4"/>
                </a:solidFill>
              </a:rPr>
              <a:t>財報、三大法人、融資券、股利明細、盤中與分鐘資料。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300" b="0" i="0">
                <a:solidFill>
                  <a:schemeClr val="accent4"/>
                </a:solidFill>
              </a:rPr>
              <a:t>FinMind 的價格範圍刻意排除權證與 TDR：全市場一天約 4.4 萬檔，只保留約 2,800 檔。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0" y="1463040"/>
            <a:ext cx="36393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300" b="1" i="0">
                <a:solidFill>
                  <a:schemeClr val="tx2"/>
                </a:solidFill>
              </a:rPr>
              <a:t>每年列數（千列）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909560" y="1737360"/>
          <a:ext cx="3733495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001000" y="5623560"/>
            <a:ext cx="3639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100" b="0" i="0">
                <a:solidFill>
                  <a:schemeClr val="accent4"/>
                </a:solidFill>
              </a:rPr>
              <a:t>未滿一年的 2026 年不列入。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兩個來源各有所長：先選對資料庫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08760"/>
          <a:ext cx="11091672" cy="43616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286000"/>
                <a:gridCol w="4389120"/>
                <a:gridCol w="4416552"/>
              </a:tblGrid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1" i="0">
                          <a:solidFill>
                            <a:schemeClr val="bg1"/>
                          </a:solidFill>
                        </a:rPr>
                        <a:t>面向</a:t>
                      </a:r>
                    </a:p>
                  </a:txBody>
                  <a:tcPr marL="91440" marR="91440" marT="36576" marB="36576" anchor="ctr">
                    <a:solidFill>
                      <a:schemeClr val="tx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1" i="0">
                          <a:solidFill>
                            <a:schemeClr val="bg1"/>
                          </a:solidFill>
                        </a:rPr>
                        <a:t>FinMind</a:t>
                      </a:r>
                    </a:p>
                  </a:txBody>
                  <a:tcPr marL="91440" marR="91440" marT="36576" marB="36576" anchor="ctr">
                    <a:solidFill>
                      <a:schemeClr val="tx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1" i="0">
                          <a:solidFill>
                            <a:schemeClr val="bg1"/>
                          </a:solidFill>
                        </a:rPr>
                        <a:t>TEJ</a:t>
                      </a:r>
                    </a:p>
                  </a:txBody>
                  <a:tcPr marL="91440" marR="91440" marT="36576" marB="36576" anchor="ctr"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1" i="0">
                          <a:solidFill>
                            <a:schemeClr val="tx1"/>
                          </a:solidFill>
                        </a:rPr>
                        <a:t>來源與取得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0" i="0">
                          <a:solidFill>
                            <a:schemeClr val="tx1"/>
                          </a:solidFill>
                        </a:rPr>
                        <a:t>FinMind API v4（HTTP＋token），隨時可以重抓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0" i="0">
                          <a:solidFill>
                            <a:schemeClr val="tx1"/>
                          </a:solidFill>
                        </a:rPr>
                        <a:t>TEJ Smart Wizard Excel 增益集；授權資料，raw 無法重製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1" i="0">
                          <a:solidFill>
                            <a:schemeClr val="tx1"/>
                          </a:solidFill>
                        </a:rPr>
                        <a:t>涵蓋</a:t>
                      </a:r>
                    </a:p>
                  </a:txBody>
                  <a:tcPr marL="91440" marR="91440" marT="36576" marB="36576" anchor="ctr"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0" i="0">
                          <a:solidFill>
                            <a:schemeClr val="tx1"/>
                          </a:solidFill>
                        </a:rPr>
                        <a:t>全市場 3,916 檔：上市、上櫃、興櫃、ETF、指數</a:t>
                      </a:r>
                    </a:p>
                  </a:txBody>
                  <a:tcPr marL="91440" marR="91440" marT="36576" marB="36576" anchor="ctr"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0" i="0">
                          <a:solidFill>
                            <a:schemeClr val="tx1"/>
                          </a:solidFill>
                        </a:rPr>
                        <a:t>公司池 2,453 檔，加上 TWN50／TM100 每日成分</a:t>
                      </a:r>
                    </a:p>
                  </a:txBody>
                  <a:tcPr marL="91440" marR="91440" marT="36576" marB="36576" anchor="ctr"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1" i="0">
                          <a:solidFill>
                            <a:schemeClr val="tx1"/>
                          </a:solidFill>
                        </a:rPr>
                        <a:t>期間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0" i="0">
                          <a:solidFill>
                            <a:schemeClr val="tx1"/>
                          </a:solidFill>
                        </a:rPr>
                        <a:t>1994-10-01 起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0" i="0">
                          <a:solidFill>
                            <a:schemeClr val="tx1"/>
                          </a:solidFill>
                        </a:rPr>
                        <a:t>2000-09-04 起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1" i="0">
                          <a:solidFill>
                            <a:schemeClr val="tx1"/>
                          </a:solidFill>
                        </a:rPr>
                        <a:t>已下市公司的還原價</a:t>
                      </a:r>
                    </a:p>
                  </a:txBody>
                  <a:tcPr marL="91440" marR="91440" marT="36576" marB="36576" anchor="ctr"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0" i="0">
                          <a:solidFill>
                            <a:schemeClr val="tx1"/>
                          </a:solidFill>
                        </a:rPr>
                        <a:t>找回的 767 檔中只有 7 檔有（上游缺口）</a:t>
                      </a:r>
                    </a:p>
                  </a:txBody>
                  <a:tcPr marL="91440" marR="91440" marT="36576" marB="36576" anchor="ctr"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0" i="0">
                          <a:solidFill>
                            <a:schemeClr val="tx1"/>
                          </a:solidFill>
                        </a:rPr>
                        <a:t>462 檔已停止交易者全數保留</a:t>
                      </a:r>
                    </a:p>
                  </a:txBody>
                  <a:tcPr marL="91440" marR="91440" marT="36576" marB="36576" anchor="ctr"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1" i="0">
                          <a:solidFill>
                            <a:schemeClr val="tx1"/>
                          </a:solidFill>
                        </a:rPr>
                        <a:t>每列欄位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0" i="0">
                          <a:solidFill>
                            <a:schemeClr val="tx1"/>
                          </a:solidFill>
                        </a:rPr>
                        <a:t>精簡：開高低收、成交量值、筆數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0" i="0">
                          <a:solidFill>
                            <a:schemeClr val="tx1"/>
                          </a:solidFill>
                        </a:rPr>
                        <a:t>40 欄：估值、殖利率、市值比重、漲跌停與處置旗標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1" i="0">
                          <a:solidFill>
                            <a:schemeClr val="tx1"/>
                          </a:solidFill>
                        </a:rPr>
                        <a:t>適合</a:t>
                      </a:r>
                    </a:p>
                  </a:txBody>
                  <a:tcPr marL="91440" marR="91440" marT="36576" marB="36576" anchor="ctr"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0" i="0">
                          <a:solidFill>
                            <a:schemeClr val="tx1"/>
                          </a:solidFill>
                        </a:rPr>
                        <a:t>全市場橫斷面、選股池、產業、2000 年以前</a:t>
                      </a:r>
                    </a:p>
                  </a:txBody>
                  <a:tcPr marL="91440" marR="91440" marT="36576" marB="36576" anchor="ctr"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0" i="0">
                          <a:solidFill>
                            <a:schemeClr val="tx1"/>
                          </a:solidFill>
                        </a:rPr>
                        <a:t>無偏誤的還原報酬、估值因子、指數的歷史成分</a:t>
                      </a:r>
                    </a:p>
                  </a:txBody>
                  <a:tcPr marL="91440" marR="91440" marT="36576" marB="36576" anchor="ctr"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　蒐集、處理與更新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API 與 Excel 兩種截然不同的來源，如何收斂到同一套流程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FinMind：用最少的 API 呼叫抓完 32 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605229" cy="1874519"/>
          </a:xfrm>
          <a:prstGeom prst="roundRect">
            <a:avLst>
              <a:gd name="adj" fmla="val 3417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76656" y="1591056"/>
            <a:ext cx="302260" cy="302260"/>
          </a:xfrm>
          <a:prstGeom prst="ellipse">
            <a:avLst/>
          </a:prstGeom>
          <a:solidFill>
            <a:schemeClr val="accent2">
              <a:lumMod val="28000"/>
              <a:lumOff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lang="zh-TW" altLang="en-US" sz="1300" b="1" i="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957324"/>
            <a:ext cx="1349197" cy="12522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400" b="1" i="0">
                <a:solidFill>
                  <a:schemeClr val="tx2"/>
                </a:solidFill>
              </a:rPr>
              <a:t>維度 ingest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lang="zh-TW" altLang="en-US" sz="1200" b="0" i="0">
                <a:solidFill>
                  <a:schemeClr val="accent4"/>
                </a:solidFill>
              </a:rPr>
              <a:t>主檔、產業、日曆；過濾範圍要用最新名單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81301" y="2400300"/>
            <a:ext cx="237744" cy="0"/>
          </a:xfrm>
          <a:prstGeom prst="line">
            <a:avLst/>
          </a:prstGeom>
          <a:ln w="1905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446477" y="1463040"/>
            <a:ext cx="1605229" cy="1874519"/>
          </a:xfrm>
          <a:prstGeom prst="roundRect">
            <a:avLst>
              <a:gd name="adj" fmla="val 3417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74493" y="1591056"/>
            <a:ext cx="302260" cy="302260"/>
          </a:xfrm>
          <a:prstGeom prst="ellipse">
            <a:avLst/>
          </a:prstGeom>
          <a:solidFill>
            <a:schemeClr val="accent2">
              <a:lumMod val="28000"/>
              <a:lumOff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lang="zh-TW" altLang="en-US" sz="1300" b="1" i="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4493" y="1957324"/>
            <a:ext cx="1349197" cy="12522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400" b="1" i="0">
                <a:solidFill>
                  <a:schemeClr val="tx2"/>
                </a:solidFill>
              </a:rPr>
              <a:t>價格 ingest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lang="zh-TW" altLang="en-US" sz="1200" b="0" i="0">
                <a:solidFill>
                  <a:schemeClr val="accent4"/>
                </a:solidFill>
              </a:rPr>
              <a:t>回補一檔一次呼叫，每日全市場一次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79138" y="2400300"/>
            <a:ext cx="237744" cy="0"/>
          </a:xfrm>
          <a:prstGeom prst="line">
            <a:avLst/>
          </a:prstGeom>
          <a:ln w="1905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44314" y="1463040"/>
            <a:ext cx="1605229" cy="1874519"/>
          </a:xfrm>
          <a:prstGeom prst="roundRect">
            <a:avLst>
              <a:gd name="adj" fmla="val 3417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72330" y="1591056"/>
            <a:ext cx="302260" cy="302260"/>
          </a:xfrm>
          <a:prstGeom prst="ellipse">
            <a:avLst/>
          </a:prstGeom>
          <a:solidFill>
            <a:schemeClr val="accent2">
              <a:lumMod val="28000"/>
              <a:lumOff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lang="zh-TW" altLang="en-US" sz="1300" b="1" i="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2330" y="1957324"/>
            <a:ext cx="1349197" cy="12522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400" b="1" i="0">
                <a:solidFill>
                  <a:schemeClr val="tx2"/>
                </a:solidFill>
              </a:rPr>
              <a:t>價格處理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lang="zh-TW" altLang="en-US" sz="1200" b="0" i="0">
                <a:solidFill>
                  <a:schemeClr val="accent4"/>
                </a:solidFill>
              </a:rPr>
              <a:t>改名、定型、過濾、去重、翻成一天一檔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76975" y="2400300"/>
            <a:ext cx="237744" cy="0"/>
          </a:xfrm>
          <a:prstGeom prst="line">
            <a:avLst/>
          </a:prstGeom>
          <a:ln w="1905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42151" y="1463040"/>
            <a:ext cx="1605229" cy="1874519"/>
          </a:xfrm>
          <a:prstGeom prst="roundRect">
            <a:avLst>
              <a:gd name="adj" fmla="val 3417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70167" y="1591056"/>
            <a:ext cx="302260" cy="302260"/>
          </a:xfrm>
          <a:prstGeom prst="ellipse">
            <a:avLst/>
          </a:prstGeom>
          <a:solidFill>
            <a:schemeClr val="accent2">
              <a:lumMod val="28000"/>
              <a:lumOff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lang="zh-TW" altLang="en-US" sz="1300" b="1" i="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1957324"/>
            <a:ext cx="1349197" cy="12522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400" b="1" i="0">
                <a:solidFill>
                  <a:schemeClr val="tx2"/>
                </a:solidFill>
              </a:rPr>
              <a:t>交易日曆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lang="zh-TW" altLang="en-US" sz="1200" b="0" i="0">
                <a:solidFill>
                  <a:schemeClr val="accent4"/>
                </a:solidFill>
              </a:rPr>
              <a:t>1994–98 由價格日期反推（含週六盤）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74812" y="2400300"/>
            <a:ext cx="237744" cy="0"/>
          </a:xfrm>
          <a:prstGeom prst="line">
            <a:avLst/>
          </a:prstGeom>
          <a:ln w="1905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139988" y="1463040"/>
            <a:ext cx="1605229" cy="1874519"/>
          </a:xfrm>
          <a:prstGeom prst="roundRect">
            <a:avLst>
              <a:gd name="adj" fmla="val 3417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68004" y="1591056"/>
            <a:ext cx="302260" cy="302260"/>
          </a:xfrm>
          <a:prstGeom prst="ellipse">
            <a:avLst/>
          </a:prstGeom>
          <a:solidFill>
            <a:schemeClr val="accent2">
              <a:lumMod val="28000"/>
              <a:lumOff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lang="zh-TW" altLang="en-US" sz="1300" b="1" i="0">
                <a:solidFill>
                  <a:schemeClr val="tx2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8004" y="1957324"/>
            <a:ext cx="1349197" cy="12522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400" b="1" i="0">
                <a:solidFill>
                  <a:schemeClr val="tx2"/>
                </a:solidFill>
              </a:rPr>
              <a:t>已下市清單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lang="zh-TW" altLang="en-US" sz="1200" b="0" i="0">
                <a:solidFill>
                  <a:schemeClr val="accent4"/>
                </a:solidFill>
              </a:rPr>
              <a:t>掃描 ∪ 下市公告 − 現有主檔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772650" y="2400300"/>
            <a:ext cx="237744" cy="0"/>
          </a:xfrm>
          <a:prstGeom prst="line">
            <a:avLst/>
          </a:prstGeom>
          <a:ln w="1905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037826" y="1463040"/>
            <a:ext cx="1605229" cy="1874519"/>
          </a:xfrm>
          <a:prstGeom prst="roundRect">
            <a:avLst>
              <a:gd name="adj" fmla="val 3417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65842" y="1591056"/>
            <a:ext cx="302260" cy="302260"/>
          </a:xfrm>
          <a:prstGeom prst="ellipse">
            <a:avLst/>
          </a:prstGeom>
          <a:solidFill>
            <a:schemeClr val="accent2">
              <a:lumMod val="28000"/>
              <a:lumOff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lang="zh-TW" altLang="en-US" sz="1300" b="1" i="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65842" y="1957324"/>
            <a:ext cx="1349197" cy="12522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400" b="1" i="0">
                <a:solidFill>
                  <a:schemeClr val="tx2"/>
                </a:solidFill>
              </a:rPr>
              <a:t>建立 view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lang="zh-TW" altLang="en-US" sz="1200" b="0" i="0">
                <a:solidFill>
                  <a:schemeClr val="accent4"/>
                </a:solidFill>
              </a:rPr>
              <a:t>重建 view，再跑 28 項健康檢查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566160"/>
            <a:ext cx="3515258" cy="2651760"/>
          </a:xfrm>
          <a:prstGeom prst="roundRect">
            <a:avLst>
              <a:gd name="adj" fmla="val 206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1520" y="3806952"/>
            <a:ext cx="128016" cy="12801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" y="3749039"/>
            <a:ext cx="293004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600" b="1" i="0">
                <a:solidFill>
                  <a:schemeClr val="tx2"/>
                </a:solidFill>
              </a:rPr>
              <a:t>兩種抓取形狀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126991"/>
            <a:ext cx="3149498" cy="1908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400" b="0" i="0">
                <a:solidFill>
                  <a:schemeClr val="tx1"/>
                </a:solidFill>
              </a:rPr>
              <a:t>回補時一次呼叫拿一檔的全部歷史，約 3,600 次呼叫補完 32 年；每日更新時一次呼叫拿全市場一天。兩種都原樣落地，raw 只增不改。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8218" y="3566160"/>
            <a:ext cx="3515258" cy="2651760"/>
          </a:xfrm>
          <a:prstGeom prst="roundRect">
            <a:avLst>
              <a:gd name="adj" fmla="val 206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21098" y="3806952"/>
            <a:ext cx="128016" cy="12801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40554" y="3749039"/>
            <a:ext cx="293004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600" b="1" i="0">
                <a:solidFill>
                  <a:schemeClr val="tx2"/>
                </a:solidFill>
              </a:rPr>
              <a:t>跨行程限流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1098" y="4126991"/>
            <a:ext cx="3149498" cy="1908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400" b="0" i="0">
                <a:solidFill>
                  <a:schemeClr val="tx1"/>
                </a:solidFill>
              </a:rPr>
              <a:t>自寫 token-bucket 限流器，狀態存在檔案裡，排程與手動執行共用同一份配額（方案上限的 90%）。配額用盡與伺服器錯誤各有退避重試。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27796" y="3566160"/>
            <a:ext cx="3515258" cy="2651760"/>
          </a:xfrm>
          <a:prstGeom prst="roundRect">
            <a:avLst>
              <a:gd name="adj" fmla="val 206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310676" y="3806952"/>
            <a:ext cx="128016" cy="12801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30132" y="3749039"/>
            <a:ext cx="293004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600" b="1" i="0">
                <a:solidFill>
                  <a:schemeClr val="tx2"/>
                </a:solidFill>
              </a:rPr>
              <a:t>找回已下市證券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10676" y="4126991"/>
            <a:ext cx="3149498" cy="1908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400" b="0" i="0">
                <a:solidFill>
                  <a:schemeClr val="tx1"/>
                </a:solidFill>
              </a:rPr>
              <a:t>主檔只列現存證券。自 2004 年起每月抽一天掃描全市場（271 次呼叫），再與下市公告聯集：只靠掃描找到 296 檔、只靠公告 320 檔、兩者都有 151 檔。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TEJ：沒有 API，就把 Excel 變成可排程的資料來源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444936" cy="2011680"/>
          </a:xfrm>
          <a:prstGeom prst="roundRect">
            <a:avLst>
              <a:gd name="adj" fmla="val 3796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76656" y="1591056"/>
            <a:ext cx="302260" cy="302260"/>
          </a:xfrm>
          <a:prstGeom prst="ellipse">
            <a:avLst/>
          </a:prstGeom>
          <a:solidFill>
            <a:schemeClr val="accent1">
              <a:lumMod val="28000"/>
              <a:lumOff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lang="zh-TW" altLang="en-US" sz="1300" b="1" i="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957324"/>
            <a:ext cx="1188904" cy="1389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400" b="1" i="0">
                <a:solidFill>
                  <a:schemeClr val="tx2"/>
                </a:solidFill>
              </a:rPr>
              <a:t>讀交易日曆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lang="zh-TW" altLang="en-US" sz="1200" b="0" i="0">
                <a:solidFill>
                  <a:schemeClr val="accent4"/>
                </a:solidFill>
              </a:rPr>
              <a:t>取自 FinMind 的 processed 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21008" y="2468880"/>
            <a:ext cx="191432" cy="0"/>
          </a:xfrm>
          <a:prstGeom prst="line">
            <a:avLst/>
          </a:prstGeom>
          <a:ln w="1905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239872" y="1463040"/>
            <a:ext cx="1444936" cy="2011680"/>
          </a:xfrm>
          <a:prstGeom prst="roundRect">
            <a:avLst>
              <a:gd name="adj" fmla="val 3796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367888" y="1591056"/>
            <a:ext cx="302260" cy="302260"/>
          </a:xfrm>
          <a:prstGeom prst="ellipse">
            <a:avLst/>
          </a:prstGeom>
          <a:solidFill>
            <a:schemeClr val="accent1">
              <a:lumMod val="28000"/>
              <a:lumOff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lang="zh-TW" altLang="en-US" sz="1300" b="1" i="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67888" y="1957324"/>
            <a:ext cx="1188904" cy="1389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400" b="1" i="0">
                <a:solidFill>
                  <a:schemeClr val="tx2"/>
                </a:solidFill>
              </a:rPr>
              <a:t>找缺漏日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lang="zh-TW" altLang="en-US" sz="1200" b="0" i="0">
                <a:solidFill>
                  <a:schemeClr val="accent4"/>
                </a:solidFill>
              </a:rPr>
              <a:t>只碰仍在交易的活頁簿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12241" y="2468880"/>
            <a:ext cx="191432" cy="0"/>
          </a:xfrm>
          <a:prstGeom prst="line">
            <a:avLst/>
          </a:prstGeom>
          <a:ln w="1905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931105" y="1463040"/>
            <a:ext cx="1444936" cy="2011680"/>
          </a:xfrm>
          <a:prstGeom prst="roundRect">
            <a:avLst>
              <a:gd name="adj" fmla="val 3796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059121" y="1591056"/>
            <a:ext cx="302260" cy="302260"/>
          </a:xfrm>
          <a:prstGeom prst="ellipse">
            <a:avLst/>
          </a:prstGeom>
          <a:solidFill>
            <a:schemeClr val="accent1">
              <a:lumMod val="28000"/>
              <a:lumOff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lang="zh-TW" altLang="en-US" sz="1300" b="1" i="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59121" y="1957324"/>
            <a:ext cx="1188904" cy="1389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400" b="1" i="0">
                <a:solidFill>
                  <a:schemeClr val="tx2"/>
                </a:solidFill>
              </a:rPr>
              <a:t>插入 seed 列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lang="zh-TW" altLang="en-US" sz="1200" b="0" i="0">
                <a:solidFill>
                  <a:schemeClr val="accent4"/>
                </a:solidFill>
              </a:rPr>
              <a:t>A 欄代碼、B 欄日期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03473" y="2468880"/>
            <a:ext cx="191432" cy="0"/>
          </a:xfrm>
          <a:prstGeom prst="line">
            <a:avLst/>
          </a:prstGeom>
          <a:ln w="1905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622337" y="1463040"/>
            <a:ext cx="1444936" cy="2011680"/>
          </a:xfrm>
          <a:prstGeom prst="roundRect">
            <a:avLst>
              <a:gd name="adj" fmla="val 3796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50353" y="1591056"/>
            <a:ext cx="302260" cy="302260"/>
          </a:xfrm>
          <a:prstGeom prst="ellipse">
            <a:avLst/>
          </a:prstGeom>
          <a:solidFill>
            <a:schemeClr val="accent1">
              <a:lumMod val="28000"/>
              <a:lumOff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lang="zh-TW" altLang="en-US" sz="1300" b="1" i="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50353" y="1957324"/>
            <a:ext cx="1188904" cy="1389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400" b="1" i="0">
                <a:solidFill>
                  <a:schemeClr val="tx2"/>
                </a:solidFill>
              </a:rPr>
              <a:t>隱藏 Excel 更新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lang="zh-TW" altLang="en-US" sz="1200" b="0" i="0">
                <a:solidFill>
                  <a:schemeClr val="accent4"/>
                </a:solidFill>
              </a:rPr>
              <a:t>獨立桌面、同步巨集、逾時看門狗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94706" y="2468880"/>
            <a:ext cx="191432" cy="0"/>
          </a:xfrm>
          <a:prstGeom prst="line">
            <a:avLst/>
          </a:prstGeom>
          <a:ln w="1905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13570" y="1463040"/>
            <a:ext cx="1444936" cy="2011680"/>
          </a:xfrm>
          <a:prstGeom prst="roundRect">
            <a:avLst>
              <a:gd name="adj" fmla="val 3796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41586" y="1591056"/>
            <a:ext cx="302260" cy="302260"/>
          </a:xfrm>
          <a:prstGeom prst="ellipse">
            <a:avLst/>
          </a:prstGeom>
          <a:solidFill>
            <a:schemeClr val="accent1">
              <a:lumMod val="28000"/>
              <a:lumOff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lang="zh-TW" altLang="en-US" sz="1300" b="1" i="0">
                <a:solidFill>
                  <a:schemeClr val="tx2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1586" y="1957324"/>
            <a:ext cx="1188904" cy="1389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400" b="1" i="0">
                <a:solidFill>
                  <a:schemeClr val="tx2"/>
                </a:solidFill>
              </a:rPr>
              <a:t>驗證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lang="zh-TW" altLang="en-US" sz="1200" b="0" i="0">
                <a:solidFill>
                  <a:schemeClr val="accent4"/>
                </a:solidFill>
              </a:rPr>
              <a:t>新增列的收盤價是否有值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1115" y="1463040"/>
            <a:ext cx="2591939" cy="932688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51699" y="1624330"/>
            <a:ext cx="109728" cy="10972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34579" y="1563624"/>
            <a:ext cx="220789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400" b="1" i="0">
                <a:solidFill>
                  <a:schemeClr val="tx2"/>
                </a:solidFill>
              </a:rPr>
              <a:t>有值 → 存檔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lang="zh-TW" altLang="en-US" sz="1200" b="0" i="0">
                <a:solidFill>
                  <a:schemeClr val="accent4"/>
                </a:solidFill>
              </a:rPr>
              <a:t>全量重建 Parquet 與 view，再跑 35 項檢查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1115" y="2542032"/>
            <a:ext cx="2591939" cy="932688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51699" y="2703322"/>
            <a:ext cx="109728" cy="109728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34579" y="2642616"/>
            <a:ext cx="220789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400" b="1" i="0">
                <a:solidFill>
                  <a:schemeClr val="tx2"/>
                </a:solidFill>
              </a:rPr>
              <a:t>空白 → 不存檔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lang="zh-TW" altLang="en-US" sz="1200" b="0" i="0">
                <a:solidFill>
                  <a:schemeClr val="accent4"/>
                </a:solidFill>
              </a:rPr>
              <a:t>整次中止，不寫半筆資料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8785939" y="1929384"/>
            <a:ext cx="237744" cy="539496"/>
          </a:xfrm>
          <a:prstGeom prst="line">
            <a:avLst/>
          </a:prstGeom>
          <a:ln w="1905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785939" y="2468880"/>
            <a:ext cx="237744" cy="539496"/>
          </a:xfrm>
          <a:prstGeom prst="line">
            <a:avLst/>
          </a:prstGeom>
          <a:ln w="1905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48640" y="3703320"/>
            <a:ext cx="3515258" cy="2514600"/>
          </a:xfrm>
          <a:prstGeom prst="roundRect">
            <a:avLst>
              <a:gd name="adj" fmla="val 2181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1520" y="3944112"/>
            <a:ext cx="128016" cy="12801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0976" y="3886200"/>
            <a:ext cx="293004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600" b="1" i="0">
                <a:solidFill>
                  <a:schemeClr val="tx2"/>
                </a:solidFill>
              </a:rPr>
              <a:t>繞不掉的 Excel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264152"/>
            <a:ext cx="3149498" cy="1770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400" b="0" i="0">
                <a:solidFill>
                  <a:schemeClr val="tx1"/>
                </a:solidFill>
              </a:rPr>
              <a:t>唯一能更新資料的是住在 Excel 裡的增益集。程式以 COM 啟動獨立的 Excel、自行載入增益集並呼叫同步巨集；卡住時由看門狗結束該行程。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8218" y="3703320"/>
            <a:ext cx="3515258" cy="2514600"/>
          </a:xfrm>
          <a:prstGeom prst="roundRect">
            <a:avLst>
              <a:gd name="adj" fmla="val 2181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521098" y="3944112"/>
            <a:ext cx="128016" cy="12801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40554" y="3886200"/>
            <a:ext cx="293004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600" b="1" i="0">
                <a:solidFill>
                  <a:schemeClr val="tx2"/>
                </a:solidFill>
              </a:rPr>
              <a:t>不打擾使用者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1098" y="4264152"/>
            <a:ext cx="3149498" cy="1770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400" b="0" i="0">
                <a:solidFill>
                  <a:schemeClr val="tx1"/>
                </a:solidFill>
              </a:rPr>
              <a:t>增益集更新時會把視窗翻成可見並搶走焦點。把執行緒綁到獨立的 Windows 桌面後，使用者桌面上的視窗從 4 個變成 0 個，耗時 12.4 秒對 13.0 秒。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27796" y="3703320"/>
            <a:ext cx="3515258" cy="2514600"/>
          </a:xfrm>
          <a:prstGeom prst="roundRect">
            <a:avLst>
              <a:gd name="adj" fmla="val 2181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310676" y="3944112"/>
            <a:ext cx="128016" cy="12801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30132" y="3886200"/>
            <a:ext cx="293004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600" b="1" i="0">
                <a:solidFill>
                  <a:schemeClr val="tx2"/>
                </a:solidFill>
              </a:rPr>
              <a:t>從樣板長出活頁簿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10676" y="4264152"/>
            <a:ext cx="3149498" cy="1770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400" b="0" i="0">
                <a:solidFill>
                  <a:schemeClr val="tx1"/>
                </a:solidFill>
              </a:rPr>
              <a:t>查詢定義不含證券代碼，改寫代碼欄再更新，就得到另一檔的完整歷史。2,300 多本由此自動建立；與手動下載的檔逐格比對，230,796 格全部相同。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raw → processed：把上游的資料變成查詢契約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3383280" cy="2240280"/>
          </a:xfrm>
          <a:prstGeom prst="roundRect">
            <a:avLst>
              <a:gd name="adj" fmla="val 244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703832"/>
            <a:ext cx="128016" cy="12801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645920"/>
            <a:ext cx="279806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600" b="1" i="0">
                <a:solidFill>
                  <a:schemeClr val="tx2"/>
                </a:solidFill>
              </a:rPr>
              <a:t>1　改名與定型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23872"/>
            <a:ext cx="3017520" cy="1496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400" b="0" i="0">
                <a:solidFill>
                  <a:schemeClr val="tx1"/>
                </a:solidFill>
              </a:rPr>
              <a:t>max→high、min→low；日期字串轉 DATE、金額轉 BIGINT（成交值會超過 int32）。stock_id 刻意保留字串：0050、00679B。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463040"/>
            <a:ext cx="3383280" cy="2240280"/>
          </a:xfrm>
          <a:prstGeom prst="roundRect">
            <a:avLst>
              <a:gd name="adj" fmla="val 244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389120" y="1703832"/>
            <a:ext cx="128016" cy="12801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5" y="1645920"/>
            <a:ext cx="279806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600" b="1" i="0">
                <a:solidFill>
                  <a:schemeClr val="tx2"/>
                </a:solidFill>
              </a:rPr>
              <a:t>2　過濾範圍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023872"/>
            <a:ext cx="3017520" cy="1496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400" b="0" i="0">
                <a:solidFill>
                  <a:schemeClr val="tx1"/>
                </a:solidFill>
              </a:rPr>
              <a:t>全市場一天回 43,727 檔，其中約 4 萬檔是權證與 TDR。依代碼形狀只留普通股與 ETF，共 2,821 檔。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67912"/>
            <a:ext cx="3383280" cy="2240280"/>
          </a:xfrm>
          <a:prstGeom prst="roundRect">
            <a:avLst>
              <a:gd name="adj" fmla="val 244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4108704"/>
            <a:ext cx="128016" cy="12801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4050792"/>
            <a:ext cx="279806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600" b="1" i="0">
                <a:solidFill>
                  <a:schemeClr val="tx2"/>
                </a:solidFill>
              </a:rPr>
              <a:t>3　重新分區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28744"/>
            <a:ext cx="3017520" cy="1496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400" b="0" i="0">
                <a:solidFill>
                  <a:schemeClr val="tx1"/>
                </a:solidFill>
              </a:rPr>
              <a:t>把「一檔一個檔案」翻成「一天一個檔案」。約 1,200 萬列，交給 DuckDB 逐年分塊處理，記憶體只需幾十萬列。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3867912"/>
            <a:ext cx="3383280" cy="2240280"/>
          </a:xfrm>
          <a:prstGeom prst="roundRect">
            <a:avLst>
              <a:gd name="adj" fmla="val 244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89120" y="4108704"/>
            <a:ext cx="128016" cy="12801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08575" y="4050792"/>
            <a:ext cx="279806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600" b="1" i="0">
                <a:solidFill>
                  <a:schemeClr val="tx2"/>
                </a:solidFill>
              </a:rPr>
              <a:t>4　去重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428744"/>
            <a:ext cx="3017520" cy="1496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400" b="0" i="0">
                <a:solidFill>
                  <a:schemeClr val="tx1"/>
                </a:solidFill>
              </a:rPr>
              <a:t>每張表先寫下自然鍵。未還原價以全市場日檔為準；還原價以 ticker 全歷史為準（原因見第三部分）。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1463040"/>
            <a:ext cx="3779215" cy="4754879"/>
          </a:xfrm>
          <a:prstGeom prst="roundRect">
            <a:avLst>
              <a:gd name="adj" fmla="val 1451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1645920"/>
            <a:ext cx="33220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600" b="1" i="0">
                <a:solidFill>
                  <a:schemeClr val="tx2"/>
                </a:solidFill>
              </a:rPr>
              <a:t>為什麼不用 SELECT DISTINCT 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2103120"/>
            <a:ext cx="33220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400" b="0" i="0">
                <a:solidFill>
                  <a:schemeClr val="tx1"/>
                </a:solidFill>
              </a:rPr>
              <a:t>上游每次重爬都會把日期欄重新蓋章。沒有鍵的去重會把同一筆事實每爬一次多存一列。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3154680"/>
            <a:ext cx="33220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2800" b="1" i="0">
                <a:solidFill>
                  <a:schemeClr val="tx2"/>
                </a:solidFill>
              </a:rPr>
              <a:t>6,871 → 11,520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3749039"/>
            <a:ext cx="33220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200" b="0" i="0">
                <a:solidFill>
                  <a:schemeClr val="accent4"/>
                </a:solidFill>
              </a:rPr>
              <a:t>產業表在第二次抓取後的列數（修正前）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4251960"/>
            <a:ext cx="332201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400" b="0" i="0">
                <a:solidFill>
                  <a:schemeClr val="tx1"/>
                </a:solidFill>
              </a:rPr>
              <a:t>改以（證券、產業、子產業）為鍵後回到 6,871 列，並在健康檢查裡加上守門規則。TEJ 側則不去重，直接斷言鍵唯一，違反就讓重建失敗。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Schema（FinMind 價格）：三層各長什麼樣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600" b="0" i="0">
                <a:solidFill>
                  <a:schemeClr val="accent4"/>
                </a:solidFill>
              </a:rPr>
              <a:t>raw 保留上游欄名；processed 是唯一該查的一層；view 只做組合與分區裁剪。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01952"/>
            <a:ext cx="3478682" cy="4315968"/>
          </a:xfrm>
          <a:prstGeom prst="roundRect">
            <a:avLst>
              <a:gd name="adj" fmla="val 1577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2152840"/>
            <a:ext cx="118872" cy="11887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84832"/>
            <a:ext cx="2948330" cy="2914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700" b="1" i="0">
                <a:solidFill>
                  <a:schemeClr val="tx2"/>
                </a:solidFill>
              </a:rPr>
              <a:t>raw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12873"/>
            <a:ext cx="3149498" cy="4972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zh-TW" altLang="en-US" sz="1450" b="0" i="0">
                <a:solidFill>
                  <a:schemeClr val="accent4"/>
                </a:solidFill>
              </a:rPr>
              <a:t>API 回什麼就存什麼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001518"/>
            <a:ext cx="3149498" cy="31066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500" b="0" i="0">
                <a:solidFill>
                  <a:schemeClr val="tx1"/>
                </a:solidFill>
              </a:rPr>
              <a:t>date（字串）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500" b="0" i="0">
                <a:solidFill>
                  <a:schemeClr val="tx1"/>
                </a:solidFill>
              </a:rPr>
              <a:t>stock_id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500" b="0" i="0">
                <a:solidFill>
                  <a:schemeClr val="tx1"/>
                </a:solidFill>
              </a:rPr>
              <a:t>open / max / min / close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500" b="0" i="0">
                <a:solidFill>
                  <a:schemeClr val="tx1"/>
                </a:solidFill>
              </a:rPr>
              <a:t>spread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500" b="0" i="0">
                <a:solidFill>
                  <a:schemeClr val="tx1"/>
                </a:solidFill>
              </a:rPr>
              <a:t>Trading_Volume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500" b="0" i="0">
                <a:solidFill>
                  <a:schemeClr val="tx1"/>
                </a:solidFill>
              </a:rPr>
              <a:t>Trading_money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500" b="0" i="0">
                <a:solidFill>
                  <a:schemeClr val="tx1"/>
                </a:solidFill>
              </a:rPr>
              <a:t>Trading_turnover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63898" y="4059935"/>
            <a:ext cx="256032" cy="0"/>
          </a:xfrm>
          <a:prstGeom prst="line">
            <a:avLst/>
          </a:prstGeom>
          <a:ln w="1905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56506" y="1901952"/>
            <a:ext cx="3478682" cy="4315968"/>
          </a:xfrm>
          <a:prstGeom prst="roundRect">
            <a:avLst>
              <a:gd name="adj" fmla="val 1577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21098" y="2152840"/>
            <a:ext cx="118872" cy="11887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2266" y="2084832"/>
            <a:ext cx="2948330" cy="2914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700" b="1" i="0">
                <a:solidFill>
                  <a:schemeClr val="tx2"/>
                </a:solidFill>
              </a:rPr>
              <a:t>processed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412873"/>
            <a:ext cx="3149498" cy="4972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zh-TW" altLang="en-US" sz="1450" b="0" i="0">
                <a:solidFill>
                  <a:schemeClr val="accent4"/>
                </a:solidFill>
              </a:rPr>
              <a:t>查詢契約：定型、改名、去重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1098" y="3001518"/>
            <a:ext cx="3149498" cy="31066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500" b="0" i="0">
                <a:solidFill>
                  <a:schemeClr val="tx1"/>
                </a:solidFill>
              </a:rPr>
              <a:t>date（DATE）・stock_id　← 鍵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500" b="0" i="0">
                <a:solidFill>
                  <a:schemeClr val="tx1"/>
                </a:solidFill>
              </a:rPr>
              <a:t>open / high / low / close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500" b="0" i="0">
                <a:solidFill>
                  <a:schemeClr val="tx1"/>
                </a:solidFill>
              </a:rPr>
              <a:t>spread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500" b="0" i="0">
                <a:solidFill>
                  <a:schemeClr val="tx1"/>
                </a:solidFill>
              </a:rPr>
              <a:t>volume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500" b="0" i="0">
                <a:solidFill>
                  <a:schemeClr val="tx1"/>
                </a:solidFill>
              </a:rPr>
              <a:t>turnover_value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500" b="0" i="0">
                <a:solidFill>
                  <a:schemeClr val="tx1"/>
                </a:solidFill>
              </a:rPr>
              <a:t>transactions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500" b="0" i="0">
                <a:solidFill>
                  <a:schemeClr val="tx1"/>
                </a:solidFill>
              </a:rPr>
              <a:t>source・ingested_at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500" b="0" i="0">
                <a:solidFill>
                  <a:schemeClr val="tx1"/>
                </a:solidFill>
              </a:rPr>
              <a:t>year / month　← 分區鍵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71764" y="4059935"/>
            <a:ext cx="256032" cy="0"/>
          </a:xfrm>
          <a:prstGeom prst="line">
            <a:avLst/>
          </a:prstGeom>
          <a:ln w="1905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164372" y="1901952"/>
            <a:ext cx="3478682" cy="4315968"/>
          </a:xfrm>
          <a:prstGeom prst="roundRect">
            <a:avLst>
              <a:gd name="adj" fmla="val 1577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28964" y="2152840"/>
            <a:ext cx="118872" cy="11887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0132" y="2084832"/>
            <a:ext cx="2948330" cy="2914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700" b="1" i="0">
                <a:solidFill>
                  <a:schemeClr val="tx2"/>
                </a:solidFill>
              </a:rPr>
              <a:t>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8964" y="2412873"/>
            <a:ext cx="3149498" cy="4972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zh-TW" altLang="en-US" sz="1450" b="0" i="0">
                <a:solidFill>
                  <a:schemeClr val="accent4"/>
                </a:solidFill>
              </a:rPr>
              <a:t>v_daily_prices 等 19 個 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8964" y="3001518"/>
            <a:ext cx="3149498" cy="31066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500" b="0" i="0">
                <a:solidFill>
                  <a:schemeClr val="tx1"/>
                </a:solidFill>
              </a:rPr>
              <a:t>v_daily_prices：同 processed 14 欄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500" b="0" i="0">
                <a:solidFill>
                  <a:schemeClr val="tx1"/>
                </a:solidFill>
              </a:rPr>
              <a:t>v_prices_combined：加上還原價與還原因子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500" b="0" i="0">
                <a:solidFill>
                  <a:schemeClr val="tx1"/>
                </a:solidFill>
              </a:rPr>
              <a:t>v_daily_prices_enriched：加上名稱、產業、下市日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500" b="0" i="0">
                <a:solidFill>
                  <a:schemeClr val="tx1"/>
                </a:solidFill>
              </a:rPr>
              <a:t>*_between(lo, hi)：自動裁剪分區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Schema（TEJ 還原價）：35 欄中文表頭 → 40 欄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600" b="0" i="0">
                <a:solidFill>
                  <a:schemeClr val="accent4"/>
                </a:solidFill>
              </a:rPr>
              <a:t>同一列只有開高低收是還原價，買賣報價與次日參考價是未還原的原始報價，混用必錯。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01952"/>
            <a:ext cx="3478682" cy="4315968"/>
          </a:xfrm>
          <a:prstGeom prst="roundRect">
            <a:avLst>
              <a:gd name="adj" fmla="val 1577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2152840"/>
            <a:ext cx="118872" cy="11887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84832"/>
            <a:ext cx="2948330" cy="2914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700" b="1" i="0">
                <a:solidFill>
                  <a:schemeClr val="tx2"/>
                </a:solidFill>
              </a:rPr>
              <a:t>raw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12873"/>
            <a:ext cx="3149498" cy="4972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zh-TW" altLang="en-US" sz="1450" b="0" i="0">
                <a:solidFill>
                  <a:schemeClr val="accent4"/>
                </a:solidFill>
              </a:rPr>
              <a:t>xlsx 35 欄，中文表頭逐字驗證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001518"/>
            <a:ext cx="3149498" cy="31066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500" b="0" i="0">
                <a:solidFill>
                  <a:schemeClr val="tx1"/>
                </a:solidFill>
              </a:rPr>
              <a:t>證券代碼（代碼＋名稱同格）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500" b="0" i="0">
                <a:solidFill>
                  <a:schemeClr val="tx1"/>
                </a:solidFill>
              </a:rPr>
              <a:t>年月日（Excel 序號）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500" b="0" i="0">
                <a:solidFill>
                  <a:schemeClr val="tx1"/>
                </a:solidFill>
              </a:rPr>
              <a:t>開盤價 / 最高價 / 最低價 / 收盤價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500" b="0" i="0">
                <a:solidFill>
                  <a:schemeClr val="tx1"/>
                </a:solidFill>
              </a:rPr>
              <a:t>成交量(千股)・成交值(千元)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500" b="0" i="0">
                <a:solidFill>
                  <a:schemeClr val="tx1"/>
                </a:solidFill>
              </a:rPr>
              <a:t>本益比・股價淨值比・殖利率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500" b="0" i="0">
                <a:solidFill>
                  <a:schemeClr val="tx1"/>
                </a:solidFill>
              </a:rPr>
              <a:t>最後揭示買價 / 賣價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500" b="0" i="0">
                <a:solidFill>
                  <a:schemeClr val="tx1"/>
                </a:solidFill>
              </a:rPr>
              <a:t>注意・處置・全額交割旗標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63898" y="4059935"/>
            <a:ext cx="256032" cy="0"/>
          </a:xfrm>
          <a:prstGeom prst="line">
            <a:avLst/>
          </a:prstGeom>
          <a:ln w="1905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56506" y="1901952"/>
            <a:ext cx="3478682" cy="4315968"/>
          </a:xfrm>
          <a:prstGeom prst="roundRect">
            <a:avLst>
              <a:gd name="adj" fmla="val 1577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21098" y="2152840"/>
            <a:ext cx="118872" cy="11887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2266" y="2084832"/>
            <a:ext cx="2948330" cy="2914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700" b="1" i="0">
                <a:solidFill>
                  <a:schemeClr val="tx2"/>
                </a:solidFill>
              </a:rPr>
              <a:t>processed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412873"/>
            <a:ext cx="3149498" cy="4972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zh-TW" altLang="en-US" sz="1450" b="0" i="0">
                <a:solidFill>
                  <a:schemeClr val="accent4"/>
                </a:solidFill>
              </a:rPr>
              <a:t>38 欄：英文欄名、真正的型別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1098" y="3001518"/>
            <a:ext cx="3149498" cy="31066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500" b="0" i="0">
                <a:solidFill>
                  <a:schemeClr val="tx1"/>
                </a:solidFill>
              </a:rPr>
              <a:t>stock_id・date　← 鍵（斷言唯一）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500" b="0" i="0">
                <a:solidFill>
                  <a:schemeClr val="tx1"/>
                </a:solidFill>
              </a:rPr>
              <a:t>stock_name（由代碼欄切出）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500" b="0" i="0">
                <a:solidFill>
                  <a:schemeClr val="tx1"/>
                </a:solidFill>
              </a:rPr>
              <a:t>open / high / low / close（還原）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500" b="0" i="0">
                <a:solidFill>
                  <a:schemeClr val="tx1"/>
                </a:solidFill>
              </a:rPr>
              <a:t>bid / offer / next_ref_price（未還原）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500" b="0" i="0">
                <a:solidFill>
                  <a:schemeClr val="tx1"/>
                </a:solidFill>
              </a:rPr>
              <a:t>volume_k_shares・turnover_k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500" b="0" i="0">
                <a:solidFill>
                  <a:schemeClr val="tx1"/>
                </a:solidFill>
              </a:rPr>
              <a:t>pe_* / pbr_* / div_yield_*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500" b="0" i="0">
                <a:solidFill>
                  <a:schemeClr val="tx1"/>
                </a:solidFill>
              </a:rPr>
              <a:t>source_file・ingested_at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71764" y="4059935"/>
            <a:ext cx="256032" cy="0"/>
          </a:xfrm>
          <a:prstGeom prst="line">
            <a:avLst/>
          </a:prstGeom>
          <a:ln w="1905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164372" y="1901952"/>
            <a:ext cx="3478682" cy="4315968"/>
          </a:xfrm>
          <a:prstGeom prst="roundRect">
            <a:avLst>
              <a:gd name="adj" fmla="val 1577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28964" y="2152840"/>
            <a:ext cx="118872" cy="11887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0132" y="2084832"/>
            <a:ext cx="2948330" cy="2914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700" b="1" i="0">
                <a:solidFill>
                  <a:schemeClr val="tx2"/>
                </a:solidFill>
              </a:rPr>
              <a:t>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8964" y="2412873"/>
            <a:ext cx="3149498" cy="4972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zh-TW" altLang="en-US" sz="1450" b="0" i="0">
                <a:solidFill>
                  <a:schemeClr val="accent4"/>
                </a:solidFill>
              </a:rPr>
              <a:t>v_adj_daily_prices 等 20 個 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8964" y="3001518"/>
            <a:ext cx="3149498" cy="31066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500" b="0" i="0">
                <a:solidFill>
                  <a:schemeClr val="tx1"/>
                </a:solidFill>
              </a:rPr>
              <a:t>價格主表 40 欄（＋year / month）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500" b="0" i="0">
                <a:solidFill>
                  <a:schemeClr val="tx1"/>
                </a:solidFill>
              </a:rPr>
              <a:t>v_index_constituents：每日指數成分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500" b="0" i="0">
                <a:solidFill>
                  <a:schemeClr val="tx1"/>
                </a:solidFill>
              </a:rPr>
              <a:t>index_members_on(指數, 日期)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500" b="0" i="0">
                <a:solidFill>
                  <a:schemeClr val="tx1"/>
                </a:solidFill>
              </a:rPr>
              <a:t>v_workbook_status：活頁簿對帳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zh-TW" altLang="en-US" sz="1500" b="0" i="0">
                <a:solidFill>
                  <a:schemeClr val="tx1"/>
                </a:solidFill>
              </a:rPr>
              <a:t>v_security_gaps：存續期內缺漏日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view 層：39 個 view，把「怎麼查才對」寫進資料庫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91672" cy="357530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03120"/>
                <a:gridCol w="4480560"/>
                <a:gridCol w="4507992"/>
              </a:tblGrid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200" b="1" i="0">
                          <a:solidFill>
                            <a:schemeClr val="bg1"/>
                          </a:solidFill>
                        </a:rPr>
                        <a:t>用途</a:t>
                      </a:r>
                    </a:p>
                  </a:txBody>
                  <a:tcPr marL="91440" marR="91440" marT="36576" marB="36576" anchor="ctr">
                    <a:solidFill>
                      <a:schemeClr val="tx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200" b="1" i="0">
                          <a:solidFill>
                            <a:schemeClr val="bg1"/>
                          </a:solidFill>
                        </a:rPr>
                        <a:t>FinMind（19 view＋3 macro）</a:t>
                      </a:r>
                    </a:p>
                  </a:txBody>
                  <a:tcPr marL="91440" marR="91440" marT="36576" marB="36576" anchor="ctr">
                    <a:solidFill>
                      <a:schemeClr val="tx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200" b="1" i="0">
                          <a:solidFill>
                            <a:schemeClr val="bg1"/>
                          </a:solidFill>
                        </a:rPr>
                        <a:t>TEJ（20 view＋3 macro）</a:t>
                      </a:r>
                    </a:p>
                  </a:txBody>
                  <a:tcPr marL="91440" marR="91440" marT="36576" marB="36576" anchor="ctr">
                    <a:solidFill>
                      <a:schemeClr val="tx2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200" b="1" i="0">
                          <a:solidFill>
                            <a:schemeClr val="tx1"/>
                          </a:solidFill>
                        </a:rPr>
                        <a:t>價格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200" b="0" i="0">
                          <a:solidFill>
                            <a:schemeClr val="tx1"/>
                          </a:solidFill>
                        </a:rPr>
                        <a:t>v_daily_prices、v_adj_daily_prices、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200" b="0" i="0">
                          <a:solidFill>
                            <a:schemeClr val="tx1"/>
                          </a:solidFill>
                        </a:rPr>
                        <a:t>v_prices_combined、v_daily_prices_enriched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200" b="0" i="0">
                          <a:solidFill>
                            <a:schemeClr val="tx1"/>
                          </a:solidFill>
                        </a:rPr>
                        <a:t>v_adj_daily_prices（40 欄）、v_securities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200" b="1" i="0">
                          <a:solidFill>
                            <a:schemeClr val="tx1"/>
                          </a:solidFill>
                        </a:rPr>
                        <a:t>回測用的證券範圍</a:t>
                      </a:r>
                    </a:p>
                  </a:txBody>
                  <a:tcPr marL="91440" marR="91440" marT="36576" marB="36576" anchor="ctr"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200" b="0" i="0">
                          <a:solidFill>
                            <a:schemeClr val="tx1"/>
                          </a:solidFill>
                        </a:rPr>
                        <a:t>v_securities_all（含已下市）、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200" b="0" i="0">
                          <a:solidFill>
                            <a:schemeClr val="tx1"/>
                          </a:solidFill>
                        </a:rPr>
                        <a:t>v_delisted_securities、v_stock_info_latest</a:t>
                      </a:r>
                    </a:p>
                  </a:txBody>
                  <a:tcPr marL="91440" marR="91440" marT="36576" marB="36576" anchor="ctr"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200" b="0" i="0">
                          <a:solidFill>
                            <a:schemeClr val="tx1"/>
                          </a:solidFill>
                        </a:rPr>
                        <a:t>v_index_constituents、v_index_membership、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200" b="0" i="0">
                          <a:solidFill>
                            <a:schemeClr val="tx1"/>
                          </a:solidFill>
                        </a:rPr>
                        <a:t>v_index_universe</a:t>
                      </a:r>
                    </a:p>
                  </a:txBody>
                  <a:tcPr marL="91440" marR="91440" marT="36576" marB="36576" anchor="ctr">
                    <a:solidFill>
                      <a:schemeClr val="bg2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200" b="1" i="0">
                          <a:solidFill>
                            <a:schemeClr val="tx1"/>
                          </a:solidFill>
                        </a:rPr>
                        <a:t>產業與日曆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200" b="0" i="0">
                          <a:solidFill>
                            <a:schemeClr val="tx1"/>
                          </a:solidFill>
                        </a:rPr>
                        <a:t>v_industry_by_stock、v_trading_calendar、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200" b="0" i="0">
                          <a:solidFill>
                            <a:schemeClr val="tx1"/>
                          </a:solidFill>
                        </a:rPr>
                        <a:t>v_last_trading_day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200" b="0" i="0">
                          <a:solidFill>
                            <a:schemeClr val="tx1"/>
                          </a:solidFill>
                        </a:rPr>
                        <a:t>v_trading_calendar、v_index_calendar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200" b="1" i="0">
                          <a:solidFill>
                            <a:schemeClr val="tx1"/>
                          </a:solidFill>
                        </a:rPr>
                        <a:t>涵蓋率與對帳</a:t>
                      </a:r>
                    </a:p>
                  </a:txBody>
                  <a:tcPr marL="91440" marR="91440" marT="36576" marB="36576" anchor="ctr"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200" b="0" i="0">
                          <a:solidFill>
                            <a:schemeClr val="tx1"/>
                          </a:solidFill>
                        </a:rPr>
                        <a:t>v_daily_coverage、v_missing_trading_days、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200" b="0" i="0">
                          <a:solidFill>
                            <a:schemeClr val="tx1"/>
                          </a:solidFill>
                        </a:rPr>
                        <a:t>v_thin_trading_days、v_known_empty_days</a:t>
                      </a:r>
                    </a:p>
                  </a:txBody>
                  <a:tcPr marL="91440" marR="91440" marT="36576" marB="36576" anchor="ctr"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200" b="0" i="0">
                          <a:solidFill>
                            <a:schemeClr val="tx1"/>
                          </a:solidFill>
                        </a:rPr>
                        <a:t>v_workbook_status、v_security_gaps、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200" b="0" i="0">
                          <a:solidFill>
                            <a:schemeClr val="tx1"/>
                          </a:solidFill>
                        </a:rPr>
                        <a:t>v_index_price_gaps、v_thin_index_days</a:t>
                      </a:r>
                    </a:p>
                  </a:txBody>
                  <a:tcPr marL="91440" marR="91440" marT="36576" marB="36576" anchor="ctr"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200" b="1" i="0">
                          <a:solidFill>
                            <a:schemeClr val="tx1"/>
                          </a:solidFill>
                        </a:rPr>
                        <a:t>維運與入口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200" b="0" i="0">
                          <a:solidFill>
                            <a:schemeClr val="tx1"/>
                          </a:solidFill>
                        </a:rPr>
                        <a:t>v_ingestion_runs；daily_prices_between(lo, hi)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200" b="0" i="0">
                          <a:solidFill>
                            <a:schemeClr val="tx1"/>
                          </a:solidFill>
                        </a:rPr>
                        <a:t>v_ingestion_runs；index_members_on(指數, 日期)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25780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400" b="0" i="0">
                <a:solidFill>
                  <a:schemeClr val="accent4"/>
                </a:solidFill>
              </a:rPr>
              <a:t>涵蓋率與對帳本身就是 view：資料健不健康，用一句 SQL 就能問。回測歷史指數時，用 index_members_on() 取當日成分，而不是把所有曾入選的股票放進每一天。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如何更新：每日增量、每週全量、漏跑自動補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42539" y="4519993"/>
            <a:ext cx="274320" cy="150876"/>
          </a:xfrm>
          <a:prstGeom prst="roundRect">
            <a:avLst>
              <a:gd name="adj" fmla="val 18181"/>
            </a:avLst>
          </a:prstGeom>
          <a:solidFill>
            <a:schemeClr val="accent4">
              <a:lumMod val="28000"/>
              <a:lumOff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0011" y="4501705"/>
            <a:ext cx="2987344" cy="188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100" b="0" i="0">
                <a:solidFill>
                  <a:schemeClr val="accent4"/>
                </a:solidFill>
              </a:rPr>
              <a:t>已註冊的排程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69404" y="4519993"/>
            <a:ext cx="274320" cy="150876"/>
          </a:xfrm>
          <a:prstGeom prst="roundRect">
            <a:avLst>
              <a:gd name="adj" fmla="val 18181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16876" y="4501705"/>
            <a:ext cx="2987344" cy="188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100" b="0" i="0">
                <a:solidFill>
                  <a:schemeClr val="accent4"/>
                </a:solidFill>
              </a:rPr>
              <a:t>程式已完成、排程尚未註冊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42539" y="1463040"/>
            <a:ext cx="663854" cy="334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lang="zh-TW" altLang="en-US" sz="1300" b="1" i="0">
                <a:solidFill>
                  <a:schemeClr val="accent4"/>
                </a:solidFill>
              </a:rPr>
              <a:t>週一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6393" y="1463040"/>
            <a:ext cx="663854" cy="334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lang="zh-TW" altLang="en-US" sz="1300" b="1" i="0">
                <a:solidFill>
                  <a:schemeClr val="accent4"/>
                </a:solidFill>
              </a:rPr>
              <a:t>週二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70248" y="1463040"/>
            <a:ext cx="663854" cy="334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lang="zh-TW" altLang="en-US" sz="1300" b="1" i="0">
                <a:solidFill>
                  <a:schemeClr val="accent4"/>
                </a:solidFill>
              </a:rPr>
              <a:t>週三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4102" y="1463040"/>
            <a:ext cx="663854" cy="334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lang="zh-TW" altLang="en-US" sz="1300" b="1" i="0">
                <a:solidFill>
                  <a:schemeClr val="accent4"/>
                </a:solidFill>
              </a:rPr>
              <a:t>週四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97956" y="1463040"/>
            <a:ext cx="663854" cy="334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lang="zh-TW" altLang="en-US" sz="1300" b="1" i="0">
                <a:solidFill>
                  <a:schemeClr val="accent4"/>
                </a:solidFill>
              </a:rPr>
              <a:t>週五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1811" y="1463040"/>
            <a:ext cx="663854" cy="334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lang="zh-TW" altLang="en-US" sz="1300" b="1" i="0">
                <a:solidFill>
                  <a:schemeClr val="accent4"/>
                </a:solidFill>
              </a:rPr>
              <a:t>週六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5665" y="1463040"/>
            <a:ext cx="663854" cy="334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lang="zh-TW" altLang="en-US" sz="1300" b="1" i="0">
                <a:solidFill>
                  <a:schemeClr val="accent4"/>
                </a:solidFill>
              </a:rPr>
              <a:t>週日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797367"/>
            <a:ext cx="7040880" cy="643080"/>
          </a:xfrm>
          <a:prstGeom prst="roundRect">
            <a:avLst>
              <a:gd name="adj" fmla="val 7109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8" y="1996320"/>
            <a:ext cx="109728" cy="109728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1797367"/>
            <a:ext cx="2028139" cy="643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altLang="en-US" sz="1300" b="1" i="0">
                <a:solidFill>
                  <a:schemeClr val="tx2"/>
                </a:solidFill>
              </a:rPr>
              <a:t>FinMind 每日更新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altLang="en-US" sz="1100" b="0" i="0">
                <a:solidFill>
                  <a:schemeClr val="accent4"/>
                </a:solidFill>
              </a:rPr>
              <a:t>3 個維度＋缺漏日；秒級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97403" y="1940599"/>
            <a:ext cx="554126" cy="356616"/>
          </a:xfrm>
          <a:prstGeom prst="roundRect">
            <a:avLst>
              <a:gd name="adj" fmla="val 12820"/>
            </a:avLst>
          </a:prstGeom>
          <a:solidFill>
            <a:schemeClr val="accent2">
              <a:lumMod val="28000"/>
              <a:lumOff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chemeClr val="tx2"/>
                </a:solidFill>
              </a:rPr>
              <a:t>18:30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61257" y="1940599"/>
            <a:ext cx="554126" cy="356616"/>
          </a:xfrm>
          <a:prstGeom prst="roundRect">
            <a:avLst>
              <a:gd name="adj" fmla="val 12820"/>
            </a:avLst>
          </a:prstGeom>
          <a:solidFill>
            <a:schemeClr val="accent2">
              <a:lumMod val="28000"/>
              <a:lumOff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chemeClr val="tx2"/>
                </a:solidFill>
              </a:rPr>
              <a:t>18:30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5112" y="1940599"/>
            <a:ext cx="554126" cy="356616"/>
          </a:xfrm>
          <a:prstGeom prst="roundRect">
            <a:avLst>
              <a:gd name="adj" fmla="val 12820"/>
            </a:avLst>
          </a:prstGeom>
          <a:solidFill>
            <a:schemeClr val="accent2">
              <a:lumMod val="28000"/>
              <a:lumOff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chemeClr val="tx2"/>
                </a:solidFill>
              </a:rPr>
              <a:t>18:30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8966" y="1940599"/>
            <a:ext cx="554126" cy="356616"/>
          </a:xfrm>
          <a:prstGeom prst="roundRect">
            <a:avLst>
              <a:gd name="adj" fmla="val 12820"/>
            </a:avLst>
          </a:prstGeom>
          <a:solidFill>
            <a:schemeClr val="accent2">
              <a:lumMod val="28000"/>
              <a:lumOff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chemeClr val="tx2"/>
                </a:solidFill>
              </a:rPr>
              <a:t>18:30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52820" y="1940599"/>
            <a:ext cx="554126" cy="356616"/>
          </a:xfrm>
          <a:prstGeom prst="roundRect">
            <a:avLst>
              <a:gd name="adj" fmla="val 12820"/>
            </a:avLst>
          </a:prstGeom>
          <a:solidFill>
            <a:schemeClr val="accent2">
              <a:lumMod val="28000"/>
              <a:lumOff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chemeClr val="tx2"/>
                </a:solidFill>
              </a:rPr>
              <a:t>18:30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16675" y="1940599"/>
            <a:ext cx="554126" cy="356616"/>
          </a:xfrm>
          <a:prstGeom prst="roundRect">
            <a:avLst>
              <a:gd name="adj" fmla="val 12820"/>
            </a:avLst>
          </a:prstGeom>
          <a:solidFill>
            <a:schemeClr val="accent2">
              <a:lumMod val="28000"/>
              <a:lumOff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chemeClr val="tx2"/>
                </a:solidFill>
              </a:rPr>
              <a:t>18:30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2639401"/>
            <a:ext cx="109728" cy="109728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2440447"/>
            <a:ext cx="2028139" cy="643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altLang="en-US" sz="1300" b="1" i="0">
                <a:solidFill>
                  <a:schemeClr val="tx2"/>
                </a:solidFill>
              </a:rPr>
              <a:t>FinMind 每週重抓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altLang="en-US" sz="1100" b="0" i="0">
                <a:solidFill>
                  <a:schemeClr val="accent4"/>
                </a:solidFill>
              </a:rPr>
              <a:t>還原價全量＋對帳；約 45 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80529" y="2583680"/>
            <a:ext cx="554126" cy="356616"/>
          </a:xfrm>
          <a:prstGeom prst="roundRect">
            <a:avLst>
              <a:gd name="adj" fmla="val 12820"/>
            </a:avLst>
          </a:prstGeom>
          <a:solidFill>
            <a:schemeClr val="accent2">
              <a:lumMod val="28000"/>
              <a:lumOff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chemeClr val="tx2"/>
                </a:solidFill>
              </a:rPr>
              <a:t>02:00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083528"/>
            <a:ext cx="7040880" cy="643080"/>
          </a:xfrm>
          <a:prstGeom prst="roundRect">
            <a:avLst>
              <a:gd name="adj" fmla="val 7109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8368" y="3282481"/>
            <a:ext cx="109728" cy="10972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7" y="3083528"/>
            <a:ext cx="2028139" cy="643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altLang="en-US" sz="1300" b="1" i="0">
                <a:solidFill>
                  <a:schemeClr val="tx2"/>
                </a:solidFill>
              </a:rPr>
              <a:t>TEJ 每日更新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altLang="en-US" sz="1100" b="0" i="0">
                <a:solidFill>
                  <a:schemeClr val="accent4"/>
                </a:solidFill>
              </a:rPr>
              <a:t>指數檔＋約 150 本；約 55 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97403" y="3226760"/>
            <a:ext cx="554126" cy="356616"/>
          </a:xfrm>
          <a:prstGeom prst="roundRect">
            <a:avLst>
              <a:gd name="adj" fmla="val 1282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chemeClr val="tx2"/>
                </a:solidFill>
              </a:rPr>
              <a:t>18:45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61257" y="3226760"/>
            <a:ext cx="554126" cy="356616"/>
          </a:xfrm>
          <a:prstGeom prst="roundRect">
            <a:avLst>
              <a:gd name="adj" fmla="val 1282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chemeClr val="tx2"/>
                </a:solidFill>
              </a:rPr>
              <a:t>18:45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25112" y="3226760"/>
            <a:ext cx="554126" cy="356616"/>
          </a:xfrm>
          <a:prstGeom prst="roundRect">
            <a:avLst>
              <a:gd name="adj" fmla="val 1282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chemeClr val="tx2"/>
                </a:solidFill>
              </a:rPr>
              <a:t>18:45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88966" y="3226760"/>
            <a:ext cx="554126" cy="356616"/>
          </a:xfrm>
          <a:prstGeom prst="roundRect">
            <a:avLst>
              <a:gd name="adj" fmla="val 1282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chemeClr val="tx2"/>
                </a:solidFill>
              </a:rPr>
              <a:t>18:45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52820" y="3226760"/>
            <a:ext cx="554126" cy="356616"/>
          </a:xfrm>
          <a:prstGeom prst="roundRect">
            <a:avLst>
              <a:gd name="adj" fmla="val 1282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chemeClr val="tx2"/>
                </a:solidFill>
              </a:rPr>
              <a:t>18:45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16675" y="3226760"/>
            <a:ext cx="554126" cy="356616"/>
          </a:xfrm>
          <a:prstGeom prst="roundRect">
            <a:avLst>
              <a:gd name="adj" fmla="val 1282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chemeClr val="tx2"/>
                </a:solidFill>
              </a:rPr>
              <a:t>18:45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80529" y="3226760"/>
            <a:ext cx="554126" cy="356616"/>
          </a:xfrm>
          <a:prstGeom prst="roundRect">
            <a:avLst>
              <a:gd name="adj" fmla="val 1282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chemeClr val="tx2"/>
                </a:solidFill>
              </a:rPr>
              <a:t>18:45</a:t>
            </a:r>
          </a:p>
        </p:txBody>
      </p:sp>
      <p:sp>
        <p:nvSpPr>
          <p:cNvPr id="36" name="Oval 35"/>
          <p:cNvSpPr/>
          <p:nvPr/>
        </p:nvSpPr>
        <p:spPr>
          <a:xfrm>
            <a:off x="658368" y="3925562"/>
            <a:ext cx="109728" cy="10972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3726608"/>
            <a:ext cx="2028139" cy="643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altLang="en-US" sz="1300" b="1" i="0">
                <a:solidFill>
                  <a:schemeClr val="tx2"/>
                </a:solidFill>
              </a:rPr>
              <a:t>TEJ 每週全量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altLang="en-US" sz="1100" b="0" i="0">
                <a:solidFill>
                  <a:schemeClr val="accent4"/>
                </a:solidFill>
              </a:rPr>
              <a:t>2,453 本全部重抓；約 7 小時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80529" y="3869840"/>
            <a:ext cx="554126" cy="356616"/>
          </a:xfrm>
          <a:prstGeom prst="roundRect">
            <a:avLst>
              <a:gd name="adj" fmla="val 12820"/>
            </a:avLst>
          </a:prstGeom>
          <a:solidFill>
            <a:schemeClr val="accent1">
              <a:lumMod val="28000"/>
              <a:lumOff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chemeClr val="tx2"/>
                </a:solidFill>
              </a:rPr>
              <a:t>03:00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846320"/>
            <a:ext cx="7040880" cy="13716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31520" y="5047488"/>
            <a:ext cx="128016" cy="128016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0120" y="4965192"/>
            <a:ext cx="6446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lang="zh-TW" altLang="en-US" sz="1300" b="1" i="0">
                <a:solidFill>
                  <a:schemeClr val="tx2"/>
                </a:solidFill>
              </a:rPr>
              <a:t>現況（2026-10-04）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300" b="0" i="0">
                <a:solidFill>
                  <a:schemeClr val="tx1"/>
                </a:solidFill>
              </a:rPr>
              <a:t>FinMind 的 token 自 9 月 19 日降為免費方案，排程失敗、資料停在 9 月 16 日；每次失敗都留在 v_ingestion_runs。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63840" y="1463040"/>
            <a:ext cx="3779215" cy="1481328"/>
          </a:xfrm>
          <a:prstGeom prst="roundRect">
            <a:avLst>
              <a:gd name="adj" fmla="val 3703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46719" y="1696212"/>
            <a:ext cx="128016" cy="128016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66175" y="1645920"/>
            <a:ext cx="319399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500" b="1" i="0">
                <a:solidFill>
                  <a:schemeClr val="tx2"/>
                </a:solidFill>
              </a:rPr>
              <a:t>每日抓三個集合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19" y="2004822"/>
            <a:ext cx="3413455" cy="756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300" b="0" i="0">
                <a:solidFill>
                  <a:schemeClr val="tx1"/>
                </a:solidFill>
              </a:rPr>
              <a:t>新日期 ∪ 最近 3 天重抓 ∪ 範圍內缺漏。上游收盤後會修正當日成交量，漏跑的日子下次自動補齊。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63840" y="3081528"/>
            <a:ext cx="3779215" cy="1481328"/>
          </a:xfrm>
          <a:prstGeom prst="roundRect">
            <a:avLst>
              <a:gd name="adj" fmla="val 3703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046719" y="3314700"/>
            <a:ext cx="128016" cy="128016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66175" y="3264408"/>
            <a:ext cx="319399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500" b="1" i="0">
                <a:solidFill>
                  <a:schemeClr val="tx2"/>
                </a:solidFill>
              </a:rPr>
              <a:t>還原價每週全量重抓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19" y="3623310"/>
            <a:ext cx="3413455" cy="756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300" b="0" i="0">
                <a:solidFill>
                  <a:schemeClr val="tx1"/>
                </a:solidFill>
              </a:rPr>
              <a:t>除權息會改寫整段歷史，日期補齊不等於數字正確。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863840" y="4700016"/>
            <a:ext cx="3779215" cy="1481328"/>
          </a:xfrm>
          <a:prstGeom prst="roundRect">
            <a:avLst>
              <a:gd name="adj" fmla="val 3703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046719" y="4933188"/>
            <a:ext cx="128016" cy="128016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66175" y="4882896"/>
            <a:ext cx="319399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500" b="1" i="0">
                <a:solidFill>
                  <a:schemeClr val="tx2"/>
                </a:solidFill>
              </a:rPr>
              <a:t>寧可停下，不寫半筆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46719" y="5241798"/>
            <a:ext cx="3413455" cy="756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300" b="0" i="0">
                <a:solidFill>
                  <a:schemeClr val="tx1"/>
                </a:solidFill>
              </a:rPr>
              <a:t>TEJ 新增的日期沒有收盤價就不存檔並中止；重建先寫暫存目錄，再原子換檔。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把「資料正確」做成可以重跑的檢查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2567863" cy="1783080"/>
          </a:xfrm>
          <a:prstGeom prst="roundRect">
            <a:avLst>
              <a:gd name="adj" fmla="val 3076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645920"/>
            <a:ext cx="109728" cy="10972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10512"/>
            <a:ext cx="2202103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3000" b="1" i="0">
                <a:solidFill>
                  <a:schemeClr val="tx2"/>
                </a:solidFill>
              </a:rPr>
              <a:t>286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05812"/>
            <a:ext cx="2202103" cy="7574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200" b="0" i="0">
                <a:solidFill>
                  <a:schemeClr val="accent4"/>
                </a:solidFill>
              </a:rPr>
              <a:t>個自動化測試（FinMind 210、TEJ 76）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0823" y="1463040"/>
            <a:ext cx="2567863" cy="1783080"/>
          </a:xfrm>
          <a:prstGeom prst="roundRect">
            <a:avLst>
              <a:gd name="adj" fmla="val 3076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573703" y="1645920"/>
            <a:ext cx="109728" cy="10972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73703" y="1810512"/>
            <a:ext cx="2202103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3000" b="1" i="0">
                <a:solidFill>
                  <a:schemeClr val="tx2"/>
                </a:solidFill>
              </a:rPr>
              <a:t>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3703" y="2305812"/>
            <a:ext cx="2202103" cy="7574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200" b="0" i="0">
                <a:solidFill>
                  <a:schemeClr val="accent4"/>
                </a:solidFill>
              </a:rPr>
              <a:t>項唯讀健康檢查（28＋35），排程後自動執行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463040"/>
            <a:ext cx="2567863" cy="1783080"/>
          </a:xfrm>
          <a:prstGeom prst="roundRect">
            <a:avLst>
              <a:gd name="adj" fmla="val 3076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15887" y="1645920"/>
            <a:ext cx="109728" cy="10972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5887" y="1810512"/>
            <a:ext cx="2202103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3000" b="1" i="0">
                <a:solidFill>
                  <a:schemeClr val="tx2"/>
                </a:solidFill>
              </a:rPr>
              <a:t>4 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5887" y="2305812"/>
            <a:ext cx="2202103" cy="7574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200" b="0" i="0">
                <a:solidFill>
                  <a:schemeClr val="accent4"/>
                </a:solidFill>
              </a:rPr>
              <a:t>每週對帳：缺漏日、稀薄日、沒有資料的證券、停更的證券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75191" y="1463040"/>
            <a:ext cx="2567863" cy="1783080"/>
          </a:xfrm>
          <a:prstGeom prst="roundRect">
            <a:avLst>
              <a:gd name="adj" fmla="val 3076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58071" y="1645920"/>
            <a:ext cx="109728" cy="10972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58071" y="1810512"/>
            <a:ext cx="2202103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3000" b="1" i="0">
                <a:solidFill>
                  <a:schemeClr val="tx2"/>
                </a:solidFill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8071" y="2305812"/>
            <a:ext cx="2202103" cy="7574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200" b="0" i="0">
                <a:solidFill>
                  <a:schemeClr val="accent4"/>
                </a:solidFill>
              </a:rPr>
              <a:t>次手改資料：資料只由程式產生，要改資料就改程式再重跑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48640" y="3474720"/>
          <a:ext cx="11091672" cy="268833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394960"/>
                <a:gridCol w="5696712"/>
              </a:tblGrid>
              <a:tr h="4480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1" i="0">
                          <a:solidFill>
                            <a:schemeClr val="bg1"/>
                          </a:solidFill>
                        </a:rPr>
                        <a:t>處理過的上游缺陷（各有對應測試）</a:t>
                      </a:r>
                    </a:p>
                  </a:txBody>
                  <a:tcPr marL="91440" marR="91440" marT="36576" marB="36576" anchor="ctr">
                    <a:solidFill>
                      <a:schemeClr val="tx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1" i="0">
                          <a:solidFill>
                            <a:schemeClr val="bg1"/>
                          </a:solidFill>
                        </a:rPr>
                        <a:t>處理方式</a:t>
                      </a:r>
                    </a:p>
                  </a:txBody>
                  <a:tcPr marL="91440" marR="91440" marT="36576" marB="36576" anchor="ctr">
                    <a:solidFill>
                      <a:schemeClr val="tx2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0" i="0">
                          <a:solidFill>
                            <a:schemeClr val="tx1"/>
                          </a:solidFill>
                        </a:rPr>
                        <a:t>日期欄是字串「None」（32 列）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0" i="0">
                          <a:solidFill>
                            <a:schemeClr val="tx1"/>
                          </a:solidFill>
                        </a:rPr>
                        <a:t>轉成真正的 NULL，否則轉型會直接失敗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0" i="0">
                          <a:solidFill>
                            <a:schemeClr val="tx1"/>
                          </a:solidFill>
                        </a:rPr>
                        <a:t>1999 年以前有週六盤（176 天）</a:t>
                      </a:r>
                    </a:p>
                  </a:txBody>
                  <a:tcPr marL="91440" marR="91440" marT="36576" marB="36576" anchor="ctr"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0" i="0">
                          <a:solidFill>
                            <a:schemeClr val="tx1"/>
                          </a:solidFill>
                        </a:rPr>
                        <a:t>不寫任何「週末必無交易」的邏輯</a:t>
                      </a:r>
                    </a:p>
                  </a:txBody>
                  <a:tcPr marL="91440" marR="91440" marT="36576" marB="36576" anchor="ctr">
                    <a:solidFill>
                      <a:schemeClr val="bg2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0" i="0">
                          <a:solidFill>
                            <a:schemeClr val="tx1"/>
                          </a:solidFill>
                        </a:rPr>
                        <a:t>官方日曆列了實際休市的日子（2026-07-10）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0" i="0">
                          <a:solidFill>
                            <a:schemeClr val="tx1"/>
                          </a:solidFill>
                        </a:rPr>
                        <a:t>向 API 確認一次後記錄下來，不再當成缺漏反覆重抓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0" i="0">
                          <a:solidFill>
                            <a:schemeClr val="tx1"/>
                          </a:solidFill>
                        </a:rPr>
                        <a:t>收盤後成交量被修正（0050：39,946,000 → 43,382,378）</a:t>
                      </a:r>
                    </a:p>
                  </a:txBody>
                  <a:tcPr marL="91440" marR="91440" marT="36576" marB="36576" anchor="ctr"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0" i="0">
                          <a:solidFill>
                            <a:schemeClr val="tx1"/>
                          </a:solidFill>
                        </a:rPr>
                        <a:t>每日重抓最近 3 個交易日</a:t>
                      </a:r>
                    </a:p>
                  </a:txBody>
                  <a:tcPr marL="91440" marR="91440" marT="36576" marB="36576" anchor="ctr">
                    <a:solidFill>
                      <a:schemeClr val="bg2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0" i="0">
                          <a:solidFill>
                            <a:schemeClr val="tx1"/>
                          </a:solidFill>
                        </a:rPr>
                        <a:t>產業名稱飄移（創新板／創新版等）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0" i="0">
                          <a:solidFill>
                            <a:schemeClr val="tx1"/>
                          </a:solidFill>
                        </a:rPr>
                        <a:t>別名表正規化，原值另存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　跨來源驗證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FinMind 與 TEJ 哪裡不同、誰是對的、各自哪裡不可信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存活者偏誤：兩個來源保留了多少已下市公司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600" b="0" i="0">
                <a:solidFill>
                  <a:schemeClr val="accent4"/>
                </a:solidFill>
              </a:rPr>
              <a:t>回測只用現存公司，報酬會被高估。下圖是 TEJ 上市櫃資料列中，FinMind 也有的比例。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901952"/>
          <a:ext cx="7040880" cy="43159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863840" y="1901952"/>
            <a:ext cx="3779215" cy="1353312"/>
          </a:xfrm>
          <a:prstGeom prst="roundRect">
            <a:avLst>
              <a:gd name="adj" fmla="val 4054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19" y="2084832"/>
            <a:ext cx="109728" cy="109728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9" y="2249424"/>
            <a:ext cx="3413455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2400" b="1" i="0">
                <a:solidFill>
                  <a:schemeClr val="tx2"/>
                </a:solidFill>
              </a:rPr>
              <a:t>7／767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9" y="2645664"/>
            <a:ext cx="3413455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200" b="0" i="0">
                <a:solidFill>
                  <a:schemeClr val="accent4"/>
                </a:solidFill>
              </a:rPr>
              <a:t>FinMind 找回的已下市證券中有還原價的檔數（未還原價有 466 檔）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3364992"/>
            <a:ext cx="3779215" cy="1353312"/>
          </a:xfrm>
          <a:prstGeom prst="roundRect">
            <a:avLst>
              <a:gd name="adj" fmla="val 4054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19" y="3547872"/>
            <a:ext cx="109728" cy="10972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9" y="3712464"/>
            <a:ext cx="3413455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2400" b="1" i="0">
                <a:solidFill>
                  <a:schemeClr val="tx2"/>
                </a:solidFill>
              </a:rPr>
              <a:t>462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9" y="4108704"/>
            <a:ext cx="3413455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200" b="0" i="0">
                <a:solidFill>
                  <a:schemeClr val="accent4"/>
                </a:solidFill>
              </a:rPr>
              <a:t>TEJ 已停止交易、仍保有完整還原歷史的檔數；FinMind 還原價只涵蓋其中 197 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4828032"/>
            <a:ext cx="3779215" cy="1353312"/>
          </a:xfrm>
          <a:prstGeom prst="roundRect">
            <a:avLst>
              <a:gd name="adj" fmla="val 4054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19" y="5010912"/>
            <a:ext cx="109728" cy="109728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9" y="5175504"/>
            <a:ext cx="3413455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2400" b="1" i="0">
                <a:solidFill>
                  <a:schemeClr val="tx2"/>
                </a:solidFill>
              </a:rPr>
              <a:t>2004-02-11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5571744"/>
            <a:ext cx="3413455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200" b="0" i="0">
                <a:solidFill>
                  <a:schemeClr val="accent4"/>
                </a:solidFill>
              </a:rPr>
              <a:t>FinMind 能做無偏誤橫斷面的最早日期（全市場端點的資料起點）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驗證方法：比報酬，不比價格水準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6309360" cy="1444752"/>
          </a:xfrm>
          <a:prstGeom prst="roundRect">
            <a:avLst>
              <a:gd name="adj" fmla="val 3797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703832"/>
            <a:ext cx="128016" cy="128016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645920"/>
            <a:ext cx="572414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600" b="1" i="0">
                <a:solidFill>
                  <a:schemeClr val="tx2"/>
                </a:solidFill>
              </a:rPr>
              <a:t>1　為什麼不比水準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23872"/>
            <a:ext cx="5943600" cy="701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400" b="0" i="0">
                <a:solidFill>
                  <a:schemeClr val="tx1"/>
                </a:solidFill>
              </a:rPr>
              <a:t>兩邊都把歷史回溯到最新基準，只要重抓的日期不同，整段水準就差一個常數。逐列比收盤價，只有 69.3% 相差在 0.01 元以內——但那不代表有錯。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63240"/>
            <a:ext cx="6309360" cy="1444752"/>
          </a:xfrm>
          <a:prstGeom prst="roundRect">
            <a:avLst>
              <a:gd name="adj" fmla="val 3797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304032"/>
            <a:ext cx="128016" cy="128016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3246120"/>
            <a:ext cx="572414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600" b="1" i="0">
                <a:solidFill>
                  <a:schemeClr val="tx2"/>
                </a:solidFill>
              </a:rPr>
              <a:t>2　改比日報酬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24072"/>
            <a:ext cx="5943600" cy="701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400" b="0" i="0">
                <a:solidFill>
                  <a:schemeClr val="tx1"/>
                </a:solidFill>
              </a:rPr>
              <a:t>同一檔、同一天的報酬不受基準影響。再拿未還原報酬當第三把尺：誰的報酬等於未還原報酬，誰那天就沒有調整。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663440"/>
            <a:ext cx="6309360" cy="1444752"/>
          </a:xfrm>
          <a:prstGeom prst="roundRect">
            <a:avLst>
              <a:gd name="adj" fmla="val 3797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4904232"/>
            <a:ext cx="128016" cy="128016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4846320"/>
            <a:ext cx="572414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600" b="1" i="0">
                <a:solidFill>
                  <a:schemeClr val="tx2"/>
                </a:solidFill>
              </a:rPr>
              <a:t>3　用交易制度當檢驗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24272"/>
            <a:ext cx="5943600" cy="701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400" b="0" i="0">
                <a:solidFill>
                  <a:schemeClr val="tx1"/>
                </a:solidFill>
              </a:rPr>
              <a:t>台股有漲跌幅限制（2015 年 6 月前 7%，之後 10%）。還原後仍超過限制的報酬，不是真實事件，就是沒有調乾淨。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1463040"/>
            <a:ext cx="2118207" cy="2240280"/>
          </a:xfrm>
          <a:prstGeom prst="roundRect">
            <a:avLst>
              <a:gd name="adj" fmla="val 259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0" y="1645920"/>
            <a:ext cx="109728" cy="10972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1810512"/>
            <a:ext cx="1752447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3200" b="1" i="0">
                <a:solidFill>
                  <a:schemeClr val="tx2"/>
                </a:solidFill>
              </a:rPr>
              <a:t>2,188 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338832"/>
            <a:ext cx="1752447" cy="1181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400" b="0" i="0">
                <a:solidFill>
                  <a:schemeClr val="accent4"/>
                </a:solidFill>
              </a:rPr>
              <a:t>兩邊共有的證券，交集 941 萬列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24847" y="1463040"/>
            <a:ext cx="2118207" cy="2240280"/>
          </a:xfrm>
          <a:prstGeom prst="roundRect">
            <a:avLst>
              <a:gd name="adj" fmla="val 259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07727" y="1645920"/>
            <a:ext cx="109728" cy="10972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07727" y="1810512"/>
            <a:ext cx="1752447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3200" b="1" i="0">
                <a:solidFill>
                  <a:schemeClr val="tx2"/>
                </a:solidFill>
              </a:rPr>
              <a:t>868 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07727" y="2338832"/>
            <a:ext cx="1752447" cy="1181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400" b="0" i="0">
                <a:solidFill>
                  <a:schemeClr val="accent4"/>
                </a:solidFill>
              </a:rPr>
              <a:t>筆上市櫃、且前後兩天都有成交的日報酬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0" y="3867912"/>
            <a:ext cx="2118207" cy="2240280"/>
          </a:xfrm>
          <a:prstGeom prst="roundRect">
            <a:avLst>
              <a:gd name="adj" fmla="val 259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0" y="4050792"/>
            <a:ext cx="109728" cy="10972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4215384"/>
            <a:ext cx="1752447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3200" b="1" i="0">
                <a:solidFill>
                  <a:schemeClr val="tx2"/>
                </a:solidFill>
              </a:rPr>
              <a:t>99.96%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743704"/>
            <a:ext cx="1752447" cy="1181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400" b="0" i="0">
                <a:solidFill>
                  <a:schemeClr val="accent4"/>
                </a:solidFill>
              </a:rPr>
              <a:t>的日報酬，兩邊相差在 10bp 以內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4847" y="3867912"/>
            <a:ext cx="2118207" cy="2240280"/>
          </a:xfrm>
          <a:prstGeom prst="roundRect">
            <a:avLst>
              <a:gd name="adj" fmla="val 259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707727" y="4050792"/>
            <a:ext cx="109728" cy="10972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07727" y="4215384"/>
            <a:ext cx="1752447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3200" b="1" i="0">
                <a:solidFill>
                  <a:schemeClr val="tx2"/>
                </a:solidFill>
              </a:rPr>
              <a:t>10,008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07727" y="4743704"/>
            <a:ext cx="1752447" cy="1181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400" b="0" i="0">
                <a:solidFill>
                  <a:schemeClr val="accent4"/>
                </a:solidFill>
              </a:rPr>
              <a:t>個交易日相差超過 1%，全部逐筆歸因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10,008 個不一致的交易日，每一筆都找到原因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300" b="1" i="0">
                <a:solidFill>
                  <a:schemeClr val="tx2"/>
                </a:solidFill>
              </a:rPr>
              <a:t>兩邊日報酬相差超過 1% 的交易日數（上市櫃）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783080"/>
          <a:ext cx="685800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440680"/>
            <a:ext cx="6675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300" b="0" i="0">
                <a:solidFill>
                  <a:schemeClr val="accent4"/>
                </a:solidFill>
              </a:rPr>
              <a:t>本專案管線造成的差異：修正前 105 天，修正後 10 天（都落在最近一次每週重抓之後，下次重抓即對齊）。</a:t>
            </a:r>
          </a:p>
        </p:txBody>
      </p:sp>
      <p:sp>
        <p:nvSpPr>
          <p:cNvPr id="6" name="Oval 5"/>
          <p:cNvSpPr/>
          <p:nvPr/>
        </p:nvSpPr>
        <p:spPr>
          <a:xfrm>
            <a:off x="7589520" y="1536192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463040"/>
            <a:ext cx="3779215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lang="zh-TW" altLang="en-US" sz="1600" b="1" i="0">
                <a:solidFill>
                  <a:schemeClr val="tx2"/>
                </a:solidFill>
              </a:rPr>
              <a:t>FinMind 未還原除權息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400" b="0" i="0">
                <a:solidFill>
                  <a:schemeClr val="tx1"/>
                </a:solidFill>
              </a:rPr>
              <a:t>2,806 天、864 檔，幾乎都在 2007 年以前。</a:t>
            </a:r>
          </a:p>
        </p:txBody>
      </p:sp>
      <p:sp>
        <p:nvSpPr>
          <p:cNvPr id="8" name="Oval 7"/>
          <p:cNvSpPr/>
          <p:nvPr/>
        </p:nvSpPr>
        <p:spPr>
          <a:xfrm>
            <a:off x="7589520" y="2743200"/>
            <a:ext cx="146304" cy="146304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2670048"/>
            <a:ext cx="3779215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lang="zh-TW" altLang="en-US" sz="1600" b="1" i="0">
                <a:solidFill>
                  <a:schemeClr val="tx2"/>
                </a:solidFill>
              </a:rPr>
              <a:t>無成交日的記法不同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400" b="0" i="0">
                <a:solidFill>
                  <a:schemeClr val="tx1"/>
                </a:solidFill>
              </a:rPr>
              <a:t>FinMind 把無成交日記成 0、還原價沿用前一日；TEJ 記參考價，其中 1,614 天正好落在漲跌停價。</a:t>
            </a:r>
          </a:p>
        </p:txBody>
      </p:sp>
      <p:sp>
        <p:nvSpPr>
          <p:cNvPr id="10" name="Oval 9"/>
          <p:cNvSpPr/>
          <p:nvPr/>
        </p:nvSpPr>
        <p:spPr>
          <a:xfrm>
            <a:off x="7589520" y="3950208"/>
            <a:ext cx="146304" cy="146304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3877056"/>
            <a:ext cx="3779215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lang="zh-TW" altLang="en-US" sz="1600" b="1" i="0">
                <a:solidFill>
                  <a:schemeClr val="tx2"/>
                </a:solidFill>
              </a:rPr>
              <a:t>FinMind 多調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400" b="0" i="0">
                <a:solidFill>
                  <a:schemeClr val="tx1"/>
                </a:solidFill>
              </a:rPr>
              <a:t>20 天：未還原價沒有事件，還原價卻跳動，例如 6949 在 2024-03-11 為 −95%。</a:t>
            </a:r>
          </a:p>
        </p:txBody>
      </p:sp>
      <p:sp>
        <p:nvSpPr>
          <p:cNvPr id="12" name="Oval 11"/>
          <p:cNvSpPr/>
          <p:nvPr/>
        </p:nvSpPr>
        <p:spPr>
          <a:xfrm>
            <a:off x="7589520" y="5157216"/>
            <a:ext cx="146304" cy="146304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5084064"/>
            <a:ext cx="3779215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lang="zh-TW" altLang="en-US" sz="1600" b="1" i="0">
                <a:solidFill>
                  <a:schemeClr val="tx2"/>
                </a:solidFill>
              </a:rPr>
              <a:t>兩邊都調、幅度不同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400" b="0" i="0">
                <a:solidFill>
                  <a:schemeClr val="tx1"/>
                </a:solidFill>
              </a:rPr>
              <a:t>9 天，尚待逐筆查證。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發現一：FinMind 的還原價，早期其實沒有還原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600" b="0" i="0">
                <a:solidFill>
                  <a:schemeClr val="accent4"/>
                </a:solidFill>
              </a:rPr>
              <a:t>每年「未還原價超過漲跌幅」的跳空中，還原後仍然留著的比例。100% 表示完全沒有調整。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10512"/>
            <a:ext cx="53643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400" b="1" i="0">
                <a:solidFill>
                  <a:schemeClr val="tx2"/>
                </a:solidFill>
              </a:rPr>
              <a:t>上市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2057400"/>
          <a:ext cx="5455767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78727" y="1810512"/>
            <a:ext cx="53643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400" b="1" i="0">
                <a:solidFill>
                  <a:schemeClr val="tx2"/>
                </a:solidFill>
              </a:rPr>
              <a:t>上櫃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187287" y="2057400"/>
          <a:ext cx="5455767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413248"/>
            <a:ext cx="11094415" cy="804671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413248"/>
            <a:ext cx="10637215" cy="8046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400" b="0" i="0">
                <a:solidFill>
                  <a:schemeClr val="tx1"/>
                </a:solidFill>
              </a:rPr>
              <a:t>上市股到 2002 年、上櫃股到 2007 年，FinMind 的還原價留著全部的除權息跳空；之後兩條線重合。共 2,806 個交易日、864 檔——拿這段期間做回測，除權息會被當成暴跌。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發現二：交叉驗證抓到自己管線的錯誤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600" b="0" i="0">
                <a:solidFill>
                  <a:schemeClr val="accent4"/>
                </a:solidFill>
              </a:rPr>
              <a:t>6669 緯穎在 2026-09-02 除權。修正前，本專案的還原價在前一週出現 +195% 與 −67% 的假報酬。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901952"/>
          <a:ext cx="6949440" cy="43159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635240" y="1901952"/>
            <a:ext cx="4007815" cy="1783080"/>
          </a:xfrm>
          <a:prstGeom prst="roundRect">
            <a:avLst>
              <a:gd name="adj" fmla="val 3076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818119" y="2135124"/>
            <a:ext cx="128016" cy="12801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7575" y="2084832"/>
            <a:ext cx="342259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500" b="1" i="0">
                <a:solidFill>
                  <a:schemeClr val="tx2"/>
                </a:solidFill>
              </a:rPr>
              <a:t>原因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19" y="2443734"/>
            <a:ext cx="3642055" cy="10584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300" b="0" i="0">
                <a:solidFill>
                  <a:schemeClr val="tx1"/>
                </a:solidFill>
              </a:rPr>
              <a:t>去重時讓「全市場日檔」蓋過「ticker 全歷史」。對未還原價這是對的；但還原價的日檔只是抓取當下那個基準的快照，每週重抓的正確歷史反而被舊快照蓋回去。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3803904"/>
            <a:ext cx="4007815" cy="118872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18119" y="4037076"/>
            <a:ext cx="128016" cy="128016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7575" y="3986784"/>
            <a:ext cx="342259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500" b="1" i="0">
                <a:solidFill>
                  <a:schemeClr val="tx2"/>
                </a:solidFill>
              </a:rPr>
              <a:t>修正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19" y="4345686"/>
            <a:ext cx="3642055" cy="4640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300" b="0" i="0">
                <a:solidFill>
                  <a:schemeClr val="tx1"/>
                </a:solidFill>
              </a:rPr>
              <a:t>還原價改為 ticker 優先，日檔只補 ticker 檔尚未涵蓋的日子；新增 4 個測試與 1 條健康檢查。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5111496"/>
            <a:ext cx="1912467" cy="1106424"/>
          </a:xfrm>
          <a:prstGeom prst="roundRect">
            <a:avLst>
              <a:gd name="adj" fmla="val 495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818119" y="5294376"/>
            <a:ext cx="109728" cy="109728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19" y="5458968"/>
            <a:ext cx="1546707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2000" b="1" i="0">
                <a:solidFill>
                  <a:schemeClr val="tx2"/>
                </a:solidFill>
              </a:rPr>
              <a:t>319 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19" y="5789168"/>
            <a:ext cx="1546707" cy="245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100" b="0" i="0">
                <a:solidFill>
                  <a:schemeClr val="accent4"/>
                </a:solidFill>
              </a:rPr>
              <a:t>1,046 列被舊基準污染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30587" y="5111496"/>
            <a:ext cx="1912467" cy="1106424"/>
          </a:xfrm>
          <a:prstGeom prst="roundRect">
            <a:avLst>
              <a:gd name="adj" fmla="val 495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913467" y="5294376"/>
            <a:ext cx="109728" cy="10972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13467" y="5458968"/>
            <a:ext cx="1546707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2000" b="1" i="0">
                <a:solidFill>
                  <a:schemeClr val="tx2"/>
                </a:solidFill>
              </a:rPr>
              <a:t>19 → 6 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13467" y="5789168"/>
            <a:ext cx="1546707" cy="245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100" b="0" i="0">
                <a:solidFill>
                  <a:schemeClr val="accent4"/>
                </a:solidFill>
              </a:rPr>
              <a:t>混合基準的交易日數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發現三：只有對照第二個來源才看得到的缺陷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08760"/>
          <a:ext cx="11091672" cy="41605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651760"/>
                <a:gridCol w="5029200"/>
                <a:gridCol w="3410712"/>
              </a:tblGrid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1" i="0">
                          <a:solidFill>
                            <a:schemeClr val="bg1"/>
                          </a:solidFill>
                        </a:rPr>
                        <a:t>現象</a:t>
                      </a:r>
                    </a:p>
                  </a:txBody>
                  <a:tcPr marL="91440" marR="91440" marT="36576" marB="36576" anchor="ctr">
                    <a:solidFill>
                      <a:schemeClr val="tx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1" i="0">
                          <a:solidFill>
                            <a:schemeClr val="bg1"/>
                          </a:solidFill>
                        </a:rPr>
                        <a:t>規模（實測）</a:t>
                      </a:r>
                    </a:p>
                  </a:txBody>
                  <a:tcPr marL="91440" marR="91440" marT="36576" marB="36576" anchor="ctr">
                    <a:solidFill>
                      <a:schemeClr val="tx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1" i="0">
                          <a:solidFill>
                            <a:schemeClr val="bg1"/>
                          </a:solidFill>
                        </a:rPr>
                        <a:t>影響</a:t>
                      </a:r>
                    </a:p>
                  </a:txBody>
                  <a:tcPr marL="91440" marR="91440" marT="36576" marB="36576" anchor="ctr">
                    <a:solidFill>
                      <a:schemeClr val="tx2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1" i="0">
                          <a:solidFill>
                            <a:schemeClr val="tx1"/>
                          </a:solidFill>
                        </a:rPr>
                        <a:t>無成交日的收盤價記成 0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0" i="0">
                          <a:solidFill>
                            <a:schemeClr val="tx1"/>
                          </a:solidFill>
                        </a:rPr>
                        <a:t>FinMind 未還原價 387,319 列（3.3%），其中 36,489 列仍有成交量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0" i="0">
                          <a:solidFill>
                            <a:schemeClr val="tx1"/>
                          </a:solidFill>
                        </a:rPr>
                        <a:t>直接算報酬會得到 −100%；查詢時要排除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1" i="0">
                          <a:solidFill>
                            <a:schemeClr val="tx1"/>
                          </a:solidFill>
                        </a:rPr>
                        <a:t>成交量單位不一致</a:t>
                      </a:r>
                    </a:p>
                  </a:txBody>
                  <a:tcPr marL="91440" marR="91440" marT="36576" marB="36576" anchor="ctr"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0" i="0">
                          <a:solidFill>
                            <a:schemeClr val="tx1"/>
                          </a:solidFill>
                        </a:rPr>
                        <a:t>2000–2003 年有 15–27% 的列，成交量恰為 TEJ 的千分之一</a:t>
                      </a:r>
                    </a:p>
                  </a:txBody>
                  <a:tcPr marL="91440" marR="91440" marT="36576" marB="36576" anchor="ctr"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0" i="0">
                          <a:solidFill>
                            <a:schemeClr val="tx1"/>
                          </a:solidFill>
                        </a:rPr>
                        <a:t>早期成交量不能直接跨年比較</a:t>
                      </a:r>
                    </a:p>
                  </a:txBody>
                  <a:tcPr marL="91440" marR="91440" marT="36576" marB="36576" anchor="ctr">
                    <a:solidFill>
                      <a:schemeClr val="bg2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1" i="0">
                          <a:solidFill>
                            <a:schemeClr val="tx1"/>
                          </a:solidFill>
                        </a:rPr>
                        <a:t>上櫃資料缺漏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0" i="0">
                          <a:solidFill>
                            <a:schemeClr val="tx1"/>
                          </a:solidFill>
                        </a:rPr>
                        <a:t>2007 年 1–4 月，上櫃股幾乎整段沒有資料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0" i="0">
                          <a:solidFill>
                            <a:schemeClr val="tx1"/>
                          </a:solidFill>
                        </a:rPr>
                        <a:t>這段期間的橫斷面不完整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1" i="0">
                          <a:solidFill>
                            <a:schemeClr val="tx1"/>
                          </a:solidFill>
                        </a:rPr>
                        <a:t>減資後復牌未調整</a:t>
                      </a:r>
                    </a:p>
                  </a:txBody>
                  <a:tcPr marL="91440" marR="91440" marT="36576" marB="36576" anchor="ctr"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0" i="0">
                          <a:solidFill>
                            <a:schemeClr val="tx1"/>
                          </a:solidFill>
                        </a:rPr>
                        <a:t>818 個停牌後跳空超過 25% 的事件：TEJ 消除 662 個，FinMind 405 個</a:t>
                      </a:r>
                    </a:p>
                  </a:txBody>
                  <a:tcPr marL="91440" marR="91440" marT="36576" marB="36576" anchor="ctr"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0" i="0">
                          <a:solidFill>
                            <a:schemeClr val="tx1"/>
                          </a:solidFill>
                        </a:rPr>
                        <a:t>FinMind 有 413 個完全沒有調整</a:t>
                      </a:r>
                    </a:p>
                  </a:txBody>
                  <a:tcPr marL="91440" marR="91440" marT="36576" marB="36576" anchor="ctr">
                    <a:solidFill>
                      <a:schemeClr val="bg2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1" i="0">
                          <a:solidFill>
                            <a:schemeClr val="tx1"/>
                          </a:solidFill>
                        </a:rPr>
                        <a:t>多餘的調整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0" i="0">
                          <a:solidFill>
                            <a:schemeClr val="tx1"/>
                          </a:solidFill>
                        </a:rPr>
                        <a:t>20 個交易日：未還原價沒有事件，還原價卻跳動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TW" altLang="en-US" sz="1300" b="0" i="0">
                          <a:solidFill>
                            <a:schemeClr val="tx1"/>
                          </a:solidFill>
                        </a:rPr>
                        <a:t>屬上游錯誤，已列出清單</a:t>
                      </a:r>
                    </a:p>
                  </a:txBody>
                  <a:tcPr marL="91440" marR="91440" marT="36576" marB="36576"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300" b="0" i="0">
                <a:solidFill>
                  <a:schemeClr val="accent4"/>
                </a:solidFill>
              </a:rPr>
              <a:t>以上都出在 FinMind 一側；TEJ 一側的疑點見「兩個來源各自不能直接相信的地方」。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誰比較可信：用漲跌幅限制檢驗還原後的報酬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852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300" b="1" i="0">
                <a:solidFill>
                  <a:schemeClr val="tx2"/>
                </a:solidFill>
              </a:rPr>
              <a:t>同一批 867 萬筆日報酬中，超過當時漲跌幅限制的筆數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828800"/>
          <a:ext cx="59436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0" y="1463040"/>
            <a:ext cx="4785055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95580" indent="-195580">
              <a:lnSpc>
                <a:spcPct val="112000"/>
              </a:lnSpc>
              <a:spcAft>
                <a:spcPts val="1000"/>
              </a:spcAft>
              <a:buClr>
                <a:schemeClr val="accent5"/>
              </a:buClr>
              <a:buFont typeface="Arial"/>
              <a:buChar char="•"/>
            </a:pPr>
            <a:r>
              <a:rPr lang="zh-TW" altLang="en-US" sz="1400" b="1" i="0">
                <a:solidFill>
                  <a:schemeClr val="tx1"/>
                </a:solidFill>
              </a:rPr>
              <a:t>TEJ 留下的較少。</a:t>
            </a:r>
            <a:r>
              <a:rPr lang="zh-TW" altLang="en-US" sz="1400" b="0" i="0">
                <a:solidFill>
                  <a:schemeClr val="tx1"/>
                </a:solidFill>
              </a:rPr>
              <a:t>還原後 TEJ 剩 851 筆、FinMind 剩 2,141 筆；剩下的多是真實事件，例如新掛牌前五日沒有漲跌幅限制。</a:t>
            </a:r>
          </a:p>
          <a:p>
            <a:pPr algn="l" marL="195580" indent="-195580">
              <a:lnSpc>
                <a:spcPct val="112000"/>
              </a:lnSpc>
              <a:spcAft>
                <a:spcPts val="1000"/>
              </a:spcAft>
              <a:buClr>
                <a:schemeClr val="accent5"/>
              </a:buClr>
              <a:buFont typeface="Arial"/>
              <a:buChar char="•"/>
            </a:pPr>
            <a:r>
              <a:rPr lang="zh-TW" altLang="en-US" sz="1400" b="1" i="0">
                <a:solidFill>
                  <a:schemeClr val="tx1"/>
                </a:solidFill>
              </a:rPr>
              <a:t>2008 年以後兩者幾乎相同。</a:t>
            </a:r>
            <a:r>
              <a:rPr lang="zh-TW" altLang="en-US" sz="1400" b="0" i="0">
                <a:solidFill>
                  <a:schemeClr val="tx1"/>
                </a:solidFill>
              </a:rPr>
              <a:t>2,074 檔中有 1,935 檔，整段累積報酬相差不到 1%。</a:t>
            </a:r>
          </a:p>
          <a:p>
            <a:pPr algn="l" marL="195580" indent="-195580">
              <a:lnSpc>
                <a:spcPct val="112000"/>
              </a:lnSpc>
              <a:spcAft>
                <a:spcPts val="1000"/>
              </a:spcAft>
              <a:buClr>
                <a:schemeClr val="accent5"/>
              </a:buClr>
              <a:buFont typeface="Arial"/>
              <a:buChar char="•"/>
            </a:pPr>
            <a:r>
              <a:rPr lang="zh-TW" altLang="en-US" sz="1400" b="1" i="0">
                <a:solidFill>
                  <a:schemeClr val="tx1"/>
                </a:solidFill>
              </a:rPr>
              <a:t>全期間差距來自早期。</a:t>
            </a:r>
            <a:r>
              <a:rPr lang="zh-TW" altLang="en-US" sz="1400" b="0" i="0">
                <a:solidFill>
                  <a:schemeClr val="tx1"/>
                </a:solidFill>
              </a:rPr>
              <a:t>2,101 檔中有 775 檔累積報酬相差超過 10%，來源是 2008 年前沒有還原的除權息。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4572000"/>
            <a:ext cx="4785055" cy="1645919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40880" y="4812792"/>
            <a:ext cx="128016" cy="128016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60336" y="4754880"/>
            <a:ext cx="419983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600" b="1" i="0">
                <a:solidFill>
                  <a:schemeClr val="tx2"/>
                </a:solidFill>
              </a:rPr>
              <a:t>結論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5132832"/>
            <a:ext cx="4419295" cy="902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400" b="0" i="0">
                <a:solidFill>
                  <a:schemeClr val="tx1"/>
                </a:solidFill>
              </a:rPr>
              <a:t>算報酬、做回測用 TEJ；要全市場廣度、真實成交價與 2000 年以前的歷史，用 FinMind 的未還原價。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兩個來源各自不能直接相信的地方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387187" cy="4754879"/>
          </a:xfrm>
          <a:prstGeom prst="roundRect">
            <a:avLst>
              <a:gd name="adj" fmla="val 1153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" y="1737360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1664208"/>
            <a:ext cx="45642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800" b="1" i="0">
                <a:solidFill>
                  <a:schemeClr val="tx2"/>
                </a:solidFill>
              </a:rPr>
              <a:t>FinMind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286000"/>
            <a:ext cx="4875123" cy="379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3520" indent="-223520">
              <a:lnSpc>
                <a:spcPct val="112000"/>
              </a:lnSpc>
              <a:spcAft>
                <a:spcPts val="1400"/>
              </a:spcAft>
              <a:buClr>
                <a:schemeClr val="accent2"/>
              </a:buClr>
              <a:buFont typeface="Arial"/>
              <a:buChar char="•"/>
            </a:pPr>
            <a:r>
              <a:rPr lang="zh-TW" altLang="en-US" sz="1600" b="0" i="0">
                <a:solidFill>
                  <a:schemeClr val="tx1"/>
                </a:solidFill>
              </a:rPr>
              <a:t>還原價：上市股 2003 年前、上櫃股 2008 年前沒有還原；已下市公司幾乎沒有還原價</a:t>
            </a:r>
          </a:p>
          <a:p>
            <a:pPr algn="l" marL="223520" indent="-223520">
              <a:lnSpc>
                <a:spcPct val="112000"/>
              </a:lnSpc>
              <a:spcAft>
                <a:spcPts val="1400"/>
              </a:spcAft>
              <a:buClr>
                <a:schemeClr val="accent2"/>
              </a:buClr>
              <a:buFont typeface="Arial"/>
              <a:buChar char="•"/>
            </a:pPr>
            <a:r>
              <a:rPr lang="zh-TW" altLang="en-US" sz="1600" b="0" i="0">
                <a:solidFill>
                  <a:schemeClr val="tx1"/>
                </a:solidFill>
              </a:rPr>
              <a:t>未還原價：無成交日記成 0；2000–2003 年成交量單位不一致；2007 年初上櫃缺漏</a:t>
            </a:r>
          </a:p>
          <a:p>
            <a:pPr algn="l" marL="223520" indent="-223520">
              <a:lnSpc>
                <a:spcPct val="112000"/>
              </a:lnSpc>
              <a:spcAft>
                <a:spcPts val="1400"/>
              </a:spcAft>
              <a:buClr>
                <a:schemeClr val="accent2"/>
              </a:buClr>
              <a:buFont typeface="Arial"/>
              <a:buChar char="•"/>
            </a:pPr>
            <a:r>
              <a:rPr lang="zh-TW" altLang="en-US" sz="1600" b="0" i="0">
                <a:solidFill>
                  <a:schemeClr val="tx1"/>
                </a:solidFill>
              </a:rPr>
              <a:t>2004-02-11 以前只有現存公司；官方交易日曆含實際休市的日子</a:t>
            </a:r>
          </a:p>
          <a:p>
            <a:pPr algn="l" marL="223520" indent="-223520">
              <a:lnSpc>
                <a:spcPct val="112000"/>
              </a:lnSpc>
              <a:spcAft>
                <a:spcPts val="1400"/>
              </a:spcAft>
              <a:buClr>
                <a:schemeClr val="accent2"/>
              </a:buClr>
              <a:buFont typeface="Arial"/>
              <a:buChar char="•"/>
            </a:pPr>
            <a:r>
              <a:rPr lang="zh-TW" altLang="en-US" sz="1600" b="0" i="0">
                <a:solidFill>
                  <a:schemeClr val="tx1"/>
                </a:solidFill>
              </a:rPr>
              <a:t>維度表每次重爬都會改日期戳記，產業分類沒有歷史版本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5867" y="1463040"/>
            <a:ext cx="5387187" cy="4754879"/>
          </a:xfrm>
          <a:prstGeom prst="roundRect">
            <a:avLst>
              <a:gd name="adj" fmla="val 1153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11899" y="1737360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86219" y="1664208"/>
            <a:ext cx="45642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800" b="1" i="0">
                <a:solidFill>
                  <a:schemeClr val="tx2"/>
                </a:solidFill>
              </a:rPr>
              <a:t>TEJ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1899" y="2286000"/>
            <a:ext cx="4875123" cy="379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3520" indent="-223520">
              <a:lnSpc>
                <a:spcPct val="112000"/>
              </a:lnSpc>
              <a:spcAft>
                <a:spcPts val="1400"/>
              </a:spcAft>
              <a:buClr>
                <a:schemeClr val="accent1"/>
              </a:buClr>
              <a:buFont typeface="Arial"/>
              <a:buChar char="•"/>
            </a:pPr>
            <a:r>
              <a:rPr lang="zh-TW" altLang="en-US" sz="1600" b="0" i="0">
                <a:solidFill>
                  <a:schemeClr val="tx1"/>
                </a:solidFill>
              </a:rPr>
              <a:t>同一列混有兩種尺度：只有開高低收是還原價</a:t>
            </a:r>
          </a:p>
          <a:p>
            <a:pPr algn="l" marL="223520" indent="-223520">
              <a:lnSpc>
                <a:spcPct val="112000"/>
              </a:lnSpc>
              <a:spcAft>
                <a:spcPts val="1400"/>
              </a:spcAft>
              <a:buClr>
                <a:schemeClr val="accent1"/>
              </a:buClr>
              <a:buFont typeface="Arial"/>
              <a:buChar char="•"/>
            </a:pPr>
            <a:r>
              <a:rPr lang="zh-TW" altLang="en-US" sz="1600" b="0" i="0">
                <a:solidFill>
                  <a:schemeClr val="tx1"/>
                </a:solidFill>
              </a:rPr>
              <a:t>18 個交易日的還原報酬超過漲跌幅，而未還原價與 FinMind 都沒有，原因待查</a:t>
            </a:r>
          </a:p>
          <a:p>
            <a:pPr algn="l" marL="223520" indent="-223520">
              <a:lnSpc>
                <a:spcPct val="112000"/>
              </a:lnSpc>
              <a:spcAft>
                <a:spcPts val="1400"/>
              </a:spcAft>
              <a:buClr>
                <a:schemeClr val="accent1"/>
              </a:buClr>
              <a:buFont typeface="Arial"/>
              <a:buChar char="•"/>
            </a:pPr>
            <a:r>
              <a:rPr lang="zh-TW" altLang="en-US" sz="1600" b="0" i="0">
                <a:solidFill>
                  <a:schemeClr val="tx1"/>
                </a:solidFill>
              </a:rPr>
              <a:t>內建的報酬率欄位與還原收盤價算出的報酬，有 2,788 列相差超過 1%</a:t>
            </a:r>
          </a:p>
          <a:p>
            <a:pPr algn="l" marL="223520" indent="-223520">
              <a:lnSpc>
                <a:spcPct val="112000"/>
              </a:lnSpc>
              <a:spcAft>
                <a:spcPts val="1400"/>
              </a:spcAft>
              <a:buClr>
                <a:schemeClr val="accent1"/>
              </a:buClr>
              <a:buFont typeface="Arial"/>
              <a:buChar char="•"/>
            </a:pPr>
            <a:r>
              <a:rPr lang="zh-TW" altLang="en-US" sz="1600" b="0" i="0">
                <a:solidFill>
                  <a:schemeClr val="tx1"/>
                </a:solidFill>
              </a:rPr>
              <a:t>67,707 筆存續期內的缺漏日尚未逐檔查證</a:t>
            </a:r>
          </a:p>
          <a:p>
            <a:pPr algn="l" marL="223520" indent="-223520">
              <a:lnSpc>
                <a:spcPct val="112000"/>
              </a:lnSpc>
              <a:spcAft>
                <a:spcPts val="1400"/>
              </a:spcAft>
              <a:buClr>
                <a:schemeClr val="accent1"/>
              </a:buClr>
              <a:buFont typeface="Arial"/>
              <a:buChar char="•"/>
            </a:pPr>
            <a:r>
              <a:rPr lang="zh-TW" altLang="en-US" sz="1600" b="0" i="0">
                <a:solidFill>
                  <a:schemeClr val="tx1"/>
                </a:solidFill>
              </a:rPr>
              <a:t>2000-09-04 以前下市的公司不在內；raw 無法重製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四　限制與收穫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還沒做到的事，以及這個專案練到的能力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限制與下一步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387187" cy="4754879"/>
          </a:xfrm>
          <a:prstGeom prst="roundRect">
            <a:avLst>
              <a:gd name="adj" fmla="val 1153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" y="1737360"/>
            <a:ext cx="164592" cy="164592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1664208"/>
            <a:ext cx="45642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800" b="1" i="0">
                <a:solidFill>
                  <a:schemeClr val="tx2"/>
                </a:solidFill>
              </a:rPr>
              <a:t>目前的限制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286000"/>
            <a:ext cx="4875123" cy="379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3520" indent="-223520">
              <a:lnSpc>
                <a:spcPct val="112000"/>
              </a:lnSpc>
              <a:spcAft>
                <a:spcPts val="1600"/>
              </a:spcAft>
              <a:buClr>
                <a:schemeClr val="tx2"/>
              </a:buClr>
              <a:buFont typeface="Arial"/>
              <a:buChar char="•"/>
            </a:pPr>
            <a:r>
              <a:rPr lang="zh-TW" altLang="en-US" sz="1600" b="0" i="0">
                <a:solidFill>
                  <a:schemeClr val="tx1"/>
                </a:solidFill>
              </a:rPr>
              <a:t>FinMind 排程自 2026-09-19 起因 token 降級而停擺，資料停在 9 月 16 日</a:t>
            </a:r>
          </a:p>
          <a:p>
            <a:pPr algn="l" marL="223520" indent="-223520">
              <a:lnSpc>
                <a:spcPct val="112000"/>
              </a:lnSpc>
              <a:spcAft>
                <a:spcPts val="1600"/>
              </a:spcAft>
              <a:buClr>
                <a:schemeClr val="tx2"/>
              </a:buClr>
              <a:buFont typeface="Arial"/>
              <a:buChar char="•"/>
            </a:pPr>
            <a:r>
              <a:rPr lang="zh-TW" altLang="en-US" sz="1600" b="0" i="0">
                <a:solidFill>
                  <a:schemeClr val="tx1"/>
                </a:solidFill>
              </a:rPr>
              <a:t>TEJ 每日排程尚未註冊，指數成分以外的股票最多落後一週</a:t>
            </a:r>
          </a:p>
          <a:p>
            <a:pPr algn="l" marL="223520" indent="-223520">
              <a:lnSpc>
                <a:spcPct val="112000"/>
              </a:lnSpc>
              <a:spcAft>
                <a:spcPts val="1600"/>
              </a:spcAft>
              <a:buClr>
                <a:schemeClr val="tx2"/>
              </a:buClr>
              <a:buFont typeface="Arial"/>
              <a:buChar char="•"/>
            </a:pPr>
            <a:r>
              <a:rPr lang="zh-TW" altLang="en-US" sz="1600" b="0" i="0">
                <a:solidFill>
                  <a:schemeClr val="tx1"/>
                </a:solidFill>
              </a:rPr>
              <a:t>TEJ 一側的異常報酬與報酬欄位差異，還沒有找到解釋</a:t>
            </a:r>
          </a:p>
          <a:p>
            <a:pPr algn="l" marL="223520" indent="-223520">
              <a:lnSpc>
                <a:spcPct val="112000"/>
              </a:lnSpc>
              <a:spcAft>
                <a:spcPts val="1600"/>
              </a:spcAft>
              <a:buClr>
                <a:schemeClr val="tx2"/>
              </a:buClr>
              <a:buFont typeface="Arial"/>
              <a:buChar char="•"/>
            </a:pPr>
            <a:r>
              <a:rPr lang="zh-TW" altLang="en-US" sz="1600" b="0" i="0">
                <a:solidFill>
                  <a:schemeClr val="tx1"/>
                </a:solidFill>
              </a:rPr>
              <a:t>只有日頻價量與指數成分，沒有財報、法人與融資券資料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5867" y="1463040"/>
            <a:ext cx="5387187" cy="4754879"/>
          </a:xfrm>
          <a:prstGeom prst="roundRect">
            <a:avLst>
              <a:gd name="adj" fmla="val 1153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11899" y="1737360"/>
            <a:ext cx="164592" cy="16459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86219" y="1664208"/>
            <a:ext cx="45642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800" b="1" i="0">
                <a:solidFill>
                  <a:schemeClr val="tx2"/>
                </a:solidFill>
              </a:rPr>
              <a:t>下一步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1899" y="2286000"/>
            <a:ext cx="4875123" cy="379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3520" indent="-223520">
              <a:lnSpc>
                <a:spcPct val="112000"/>
              </a:lnSpc>
              <a:spcAft>
                <a:spcPts val="1600"/>
              </a:spcAft>
              <a:buClr>
                <a:schemeClr val="accent3"/>
              </a:buClr>
              <a:buFont typeface="Arial"/>
              <a:buChar char="•"/>
            </a:pPr>
            <a:r>
              <a:rPr lang="zh-TW" altLang="en-US" sz="1600" b="0" i="0">
                <a:solidFill>
                  <a:schemeClr val="tx1"/>
                </a:solidFill>
              </a:rPr>
              <a:t>用未還原價與除權息事件自行計算還原因子，補上 FinMind 缺的早期還原與已下市公司</a:t>
            </a:r>
          </a:p>
          <a:p>
            <a:pPr algn="l" marL="223520" indent="-223520">
              <a:lnSpc>
                <a:spcPct val="112000"/>
              </a:lnSpc>
              <a:spcAft>
                <a:spcPts val="1600"/>
              </a:spcAft>
              <a:buClr>
                <a:schemeClr val="accent3"/>
              </a:buClr>
              <a:buFont typeface="Arial"/>
              <a:buChar char="•"/>
            </a:pPr>
            <a:r>
              <a:rPr lang="zh-TW" altLang="en-US" sz="1600" b="0" i="0">
                <a:solidFill>
                  <a:schemeClr val="tx1"/>
                </a:solidFill>
              </a:rPr>
              <a:t>把跨來源比對變成每週自動執行的檢查，差異直接進對帳 view</a:t>
            </a:r>
          </a:p>
          <a:p>
            <a:pPr algn="l" marL="223520" indent="-223520">
              <a:lnSpc>
                <a:spcPct val="112000"/>
              </a:lnSpc>
              <a:spcAft>
                <a:spcPts val="1600"/>
              </a:spcAft>
              <a:buClr>
                <a:schemeClr val="accent3"/>
              </a:buClr>
              <a:buFont typeface="Arial"/>
              <a:buChar char="•"/>
            </a:pPr>
            <a:r>
              <a:rPr lang="zh-TW" altLang="en-US" sz="1600" b="0" i="0">
                <a:solidFill>
                  <a:schemeClr val="tx1"/>
                </a:solidFill>
              </a:rPr>
              <a:t>逐檔查證 TEJ 的缺漏日與異常報酬</a:t>
            </a:r>
          </a:p>
          <a:p>
            <a:pPr algn="l" marL="223520" indent="-223520">
              <a:lnSpc>
                <a:spcPct val="112000"/>
              </a:lnSpc>
              <a:spcAft>
                <a:spcPts val="1600"/>
              </a:spcAft>
              <a:buClr>
                <a:schemeClr val="accent3"/>
              </a:buClr>
              <a:buFont typeface="Arial"/>
              <a:buChar char="•"/>
            </a:pPr>
            <a:r>
              <a:rPr lang="zh-TW" altLang="en-US" sz="1600" b="0" i="0">
                <a:solidFill>
                  <a:schemeClr val="tx1"/>
                </a:solidFill>
              </a:rPr>
              <a:t>加入財報與籌碼資料，支援因子研究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822960"/>
            <a:ext cx="10728655" cy="914400"/>
          </a:xfrm>
        </p:spPr>
        <p:txBody>
          <a:bodyPr/>
          <a:lstStyle/>
          <a:p>
            <a:r>
              <a:t>資料先對，模型才有意義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1828800"/>
            <a:ext cx="10728655" cy="548640"/>
          </a:xfrm>
        </p:spPr>
        <p:txBody>
          <a:bodyPr/>
          <a:lstStyle/>
          <a:p>
            <a:r>
              <a:t>這個專案練到的三種能力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3081528"/>
            <a:ext cx="182880" cy="18288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" y="2999232"/>
            <a:ext cx="296052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2000" b="1" i="0">
                <a:solidFill>
                  <a:schemeClr val="bg1"/>
                </a:solidFill>
              </a:rPr>
              <a:t>資料工程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11880"/>
            <a:ext cx="3271418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zh-TW" altLang="en-US" sz="1500" b="0" i="0">
                <a:solidFill>
                  <a:schemeClr val="accent6"/>
                </a:solidFill>
              </a:rPr>
              <a:t>分層契約、原子寫入與暫存目錄換檔、跨行程限流、以 COM 自動化一個沒有 API 的來源、可重跑的排程與自我修復。</a:t>
            </a:r>
          </a:p>
        </p:txBody>
      </p:sp>
      <p:sp>
        <p:nvSpPr>
          <p:cNvPr id="7" name="Oval 6"/>
          <p:cNvSpPr/>
          <p:nvPr/>
        </p:nvSpPr>
        <p:spPr>
          <a:xfrm>
            <a:off x="4460138" y="3081528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71034" y="2999232"/>
            <a:ext cx="296052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2000" b="1" i="0">
                <a:solidFill>
                  <a:schemeClr val="bg1"/>
                </a:solidFill>
              </a:rPr>
              <a:t>統計與驗證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60138" y="3611880"/>
            <a:ext cx="3271418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zh-TW" altLang="en-US" sz="1500" b="0" i="0">
                <a:solidFill>
                  <a:schemeClr val="accent6"/>
                </a:solidFill>
              </a:rPr>
              <a:t>以報酬而非水準比較兩個來源、用交易制度做合理性檢驗、把一萬個差異逐筆歸因、量化存活者偏誤。</a:t>
            </a:r>
          </a:p>
        </p:txBody>
      </p:sp>
      <p:sp>
        <p:nvSpPr>
          <p:cNvPr id="10" name="Oval 9"/>
          <p:cNvSpPr/>
          <p:nvPr/>
        </p:nvSpPr>
        <p:spPr>
          <a:xfrm>
            <a:off x="8188756" y="3081528"/>
            <a:ext cx="182880" cy="18288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99652" y="2999232"/>
            <a:ext cx="296052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2000" b="1" i="0">
                <a:solidFill>
                  <a:schemeClr val="bg1"/>
                </a:solidFill>
              </a:rPr>
              <a:t>研究紀律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8756" y="3611880"/>
            <a:ext cx="3271418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zh-TW" altLang="en-US" sz="1500" b="0" i="0">
                <a:solidFill>
                  <a:schemeClr val="accent6"/>
                </a:solidFill>
              </a:rPr>
              <a:t>數字一律實測、可以重現；找到自己的錯誤就修正並留下紀錄；每個結論都寫明適用範圍與限制。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98932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zh-TW" altLang="en-US" sz="1200" b="0" i="0">
                <a:solidFill>
                  <a:schemeClr val="accent5"/>
                </a:solidFill>
              </a:rPr>
              <a:t>完整說明見同資料夾的《financial-db 專案說明書》；互動版資料地圖與 Schema 圖的連結在 README.md。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inancial-db">
      <a:dk1>
        <a:srgbClr val="111827"/>
      </a:dk1>
      <a:lt1>
        <a:srgbClr val="FFFFFF"/>
      </a:lt1>
      <a:dk2>
        <a:srgbClr val="17212E"/>
      </a:dk2>
      <a:lt2>
        <a:srgbClr val="F2F4F7"/>
      </a:lt2>
      <a:accent1>
        <a:srgbClr val="2A78D6"/>
      </a:accent1>
      <a:accent2>
        <a:srgbClr val="EB6834"/>
      </a:accent2>
      <a:accent3>
        <a:srgbClr val="1BAF7A"/>
      </a:accent3>
      <a:accent4>
        <a:srgbClr val="4A5568"/>
      </a:accent4>
      <a:accent5>
        <a:srgbClr val="8A94A6"/>
      </a:accent5>
      <a:accent6>
        <a:srgbClr val="D9DEE7"/>
      </a:accent6>
      <a:hlink>
        <a:srgbClr val="2A78D6"/>
      </a:hlink>
      <a:folHlink>
        <a:srgbClr val="4A3AA7"/>
      </a:folHlink>
    </a:clrScheme>
    <a:fontScheme name="Office">
      <a:majorFont>
        <a:latin typeface="Microsoft JhengHei"/>
        <a:ea typeface="Microsoft JhengHei"/>
        <a:cs typeface=""/>
        <a:font script="Jpan" typeface="ＭＳ Ｐゴシック"/>
        <a:font script="Hang" typeface="맑은 고딕"/>
        <a:font script="Hans" typeface="宋体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JhengHei"/>
        <a:ea typeface="Microsoft JhengHei"/>
        <a:cs typeface=""/>
        <a:font script="Jpan" typeface="ＭＳ Ｐゴシック"/>
        <a:font script="Hang" typeface="맑은 고딕"/>
        <a:font script="Hans" typeface="宋体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financial-db：台股研究級資料倉儲</dc:title>
  <dc:subject>專案簡報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